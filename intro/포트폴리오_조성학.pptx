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72" r:id="rId4"/>
    <p:sldId id="268" r:id="rId5"/>
    <p:sldId id="269" r:id="rId6"/>
    <p:sldId id="270" r:id="rId7"/>
    <p:sldId id="273" r:id="rId8"/>
    <p:sldId id="274" r:id="rId9"/>
    <p:sldId id="275" r:id="rId10"/>
    <p:sldId id="264" r:id="rId11"/>
    <p:sldId id="265" r:id="rId12"/>
    <p:sldId id="266" r:id="rId1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538C"/>
    <a:srgbClr val="FA5A5A"/>
    <a:srgbClr val="FFFFFF"/>
    <a:srgbClr val="804DFF"/>
    <a:srgbClr val="65F2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0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/>
              <a:t>유저 활동 시간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오전-오전</c:v>
                </c:pt>
                <c:pt idx="1">
                  <c:v>오전-야간</c:v>
                </c:pt>
                <c:pt idx="2">
                  <c:v>야간-야간</c:v>
                </c:pt>
                <c:pt idx="3">
                  <c:v>오전-오후</c:v>
                </c:pt>
                <c:pt idx="4">
                  <c:v>오후-야간</c:v>
                </c:pt>
                <c:pt idx="5">
                  <c:v>오후-오후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5.5</c:v>
                </c:pt>
                <c:pt idx="1">
                  <c:v>6.1</c:v>
                </c:pt>
                <c:pt idx="2">
                  <c:v>11.7</c:v>
                </c:pt>
                <c:pt idx="3">
                  <c:v>15.9</c:v>
                </c:pt>
                <c:pt idx="4">
                  <c:v>17.7</c:v>
                </c:pt>
                <c:pt idx="5">
                  <c:v>33.700000000000003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93-4B72-A9E2-F9D732FF51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07716575"/>
        <c:axId val="1707715615"/>
      </c:barChart>
      <c:catAx>
        <c:axId val="17077165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07715615"/>
        <c:crosses val="autoZero"/>
        <c:auto val="1"/>
        <c:lblAlgn val="ctr"/>
        <c:lblOffset val="100"/>
        <c:noMultiLvlLbl val="0"/>
      </c:catAx>
      <c:valAx>
        <c:axId val="17077156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077165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203858"/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aseline="0" dirty="0">
                <a:solidFill>
                  <a:srgbClr val="203858"/>
                </a:solidFill>
              </a:rPr>
              <a:t>구독 </a:t>
            </a:r>
            <a:r>
              <a:rPr lang="ko-KR" altLang="en-US" sz="1400" baseline="0" dirty="0" err="1">
                <a:solidFill>
                  <a:srgbClr val="203858"/>
                </a:solidFill>
              </a:rPr>
              <a:t>취소율</a:t>
            </a:r>
            <a:endParaRPr lang="en-US" altLang="ko-KR" sz="1400" dirty="0">
              <a:solidFill>
                <a:srgbClr val="203858"/>
              </a:solidFill>
            </a:endParaRPr>
          </a:p>
        </c:rich>
      </c:tx>
      <c:layout>
        <c:manualLayout>
          <c:xMode val="edge"/>
          <c:yMode val="edge"/>
          <c:x val="0.4444499207468125"/>
          <c:y val="2.32558068559461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203858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7870879959956286E-2"/>
          <c:y val="0.2026521156229355"/>
          <c:w val="0.94237649260751544"/>
          <c:h val="0.63761011335318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0.15</c:v>
                </c:pt>
                <c:pt idx="1">
                  <c:v>0.25</c:v>
                </c:pt>
                <c:pt idx="2">
                  <c:v>0.37</c:v>
                </c:pt>
                <c:pt idx="3">
                  <c:v>0.24</c:v>
                </c:pt>
                <c:pt idx="4">
                  <c:v>0.31</c:v>
                </c:pt>
                <c:pt idx="5">
                  <c:v>0.22</c:v>
                </c:pt>
                <c:pt idx="6">
                  <c:v>0.28000000000000003</c:v>
                </c:pt>
                <c:pt idx="7">
                  <c:v>0.34</c:v>
                </c:pt>
                <c:pt idx="8">
                  <c:v>0.28999999999999998</c:v>
                </c:pt>
                <c:pt idx="9">
                  <c:v>0.37</c:v>
                </c:pt>
                <c:pt idx="10">
                  <c:v>0.28000000000000003</c:v>
                </c:pt>
                <c:pt idx="11">
                  <c:v>0.39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B4-422D-875E-57C0F4EC26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1581264"/>
        <c:axId val="1211581744"/>
      </c:lineChart>
      <c:catAx>
        <c:axId val="1211581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11581744"/>
        <c:crosses val="autoZero"/>
        <c:auto val="1"/>
        <c:lblAlgn val="ctr"/>
        <c:lblOffset val="100"/>
        <c:noMultiLvlLbl val="0"/>
      </c:catAx>
      <c:valAx>
        <c:axId val="1211581744"/>
        <c:scaling>
          <c:orientation val="minMax"/>
          <c:max val="0.4"/>
          <c:min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11581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73E7F-E44A-4494-92FA-C5E8C58B2A13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C245D-C3AB-4A80-BE80-AEAF8CA26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078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8AB5-5B57-41F0-BDFF-78A35E815FE1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D11A-1EFD-4C44-A534-939343168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8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0"/>
            <a:ext cx="5915025" cy="78241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88" y="872697"/>
            <a:ext cx="5915025" cy="764953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8AB5-5B57-41F0-BDFF-78A35E815FE1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D11A-1EFD-4C44-A534-939343168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49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8AB5-5B57-41F0-BDFF-78A35E815FE1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D11A-1EFD-4C44-A534-939343168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019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8AB5-5B57-41F0-BDFF-78A35E815FE1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D11A-1EFD-4C44-A534-939343168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44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8AB5-5B57-41F0-BDFF-78A35E815FE1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D11A-1EFD-4C44-A534-939343168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824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8AB5-5B57-41F0-BDFF-78A35E815FE1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D11A-1EFD-4C44-A534-939343168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92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8AB5-5B57-41F0-BDFF-78A35E815FE1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D11A-1EFD-4C44-A534-939343168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219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8AB5-5B57-41F0-BDFF-78A35E815FE1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D11A-1EFD-4C44-A534-939343168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74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8AB5-5B57-41F0-BDFF-78A35E815FE1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D11A-1EFD-4C44-A534-939343168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822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8AB5-5B57-41F0-BDFF-78A35E815FE1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D11A-1EFD-4C44-A534-939343168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288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8AB5-5B57-41F0-BDFF-78A35E815FE1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D11A-1EFD-4C44-A534-939343168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99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04980"/>
            <a:ext cx="5915025" cy="7824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272747"/>
            <a:ext cx="5915025" cy="7649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58AB5-5B57-41F0-BDFF-78A35E815FE1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8D11A-1EFD-4C44-A534-939343168D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6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SxSs1XMbIuY&amp;t=2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chart" Target="../charts/chart1.xml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microsoft.com/office/2007/relationships/hdphoto" Target="../media/hdphoto3.wdp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CB3C9-2A14-AD78-A12C-7A614C125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145095"/>
            <a:ext cx="5829300" cy="1984158"/>
          </a:xfrm>
        </p:spPr>
        <p:txBody>
          <a:bodyPr>
            <a:normAutofit/>
          </a:bodyPr>
          <a:lstStyle/>
          <a:p>
            <a:r>
              <a:rPr lang="en-US" altLang="ko-KR" sz="4000"/>
              <a:t>DATA ANLYSIS</a:t>
            </a:r>
            <a:br>
              <a:rPr lang="en-US" altLang="ko-KR" sz="4000"/>
            </a:br>
            <a:r>
              <a:rPr lang="en-US" altLang="ko-KR" sz="4000"/>
              <a:t>PORTFOLIO</a:t>
            </a:r>
            <a:endParaRPr lang="ko-KR" altLang="en-US" sz="40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52312D-E362-8FF3-26D9-E919B9CEC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3213461"/>
            <a:ext cx="5143500" cy="1686197"/>
          </a:xfrm>
        </p:spPr>
        <p:txBody>
          <a:bodyPr>
            <a:normAutofit/>
          </a:bodyPr>
          <a:lstStyle/>
          <a:p>
            <a:r>
              <a:rPr lang="ko-KR" altLang="en-US" sz="2000"/>
              <a:t>조성학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4D394E8-F414-62DD-5BBF-25D03F87D783}"/>
              </a:ext>
            </a:extLst>
          </p:cNvPr>
          <p:cNvSpPr txBox="1">
            <a:spLocks/>
          </p:cNvSpPr>
          <p:nvPr/>
        </p:nvSpPr>
        <p:spPr>
          <a:xfrm>
            <a:off x="471488" y="5425438"/>
            <a:ext cx="5915025" cy="4081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>
                <a:latin typeface="+mj-ea"/>
                <a:ea typeface="+mj-ea"/>
              </a:rPr>
              <a:t>목차</a:t>
            </a:r>
            <a:r>
              <a:rPr lang="ko-KR" altLang="en-US"/>
              <a:t> </a:t>
            </a:r>
            <a:endParaRPr lang="en-US" altLang="ko-KR"/>
          </a:p>
          <a:p>
            <a:pPr marL="360000" indent="-360000" algn="l">
              <a:buFont typeface="+mj-lt"/>
              <a:buAutoNum type="arabicPeriod"/>
            </a:pPr>
            <a:r>
              <a:rPr lang="ko-KR" altLang="en-US" sz="1600"/>
              <a:t>지하철역 노인 친화 점수 개발</a:t>
            </a:r>
            <a:endParaRPr lang="en-US" altLang="ko-KR" sz="1600"/>
          </a:p>
          <a:p>
            <a:pPr marL="360000" indent="-360000" algn="l">
              <a:buFont typeface="+mj-lt"/>
              <a:buAutoNum type="arabicPeriod"/>
            </a:pPr>
            <a:r>
              <a:rPr lang="ko-KR" altLang="en-US" sz="1600"/>
              <a:t>로스트아크 강화 비용 예측 모델 개발</a:t>
            </a:r>
            <a:r>
              <a:rPr lang="en-US" altLang="ko-KR" sz="1600"/>
              <a:t>(</a:t>
            </a:r>
            <a:r>
              <a:rPr lang="ko-KR" altLang="en-US" sz="1600"/>
              <a:t>진행중</a:t>
            </a:r>
            <a:r>
              <a:rPr lang="en-US" altLang="ko-KR" sz="1600"/>
              <a:t>)</a:t>
            </a:r>
          </a:p>
          <a:p>
            <a:pPr marL="360000" indent="-360000" algn="l">
              <a:buFont typeface="+mj-lt"/>
              <a:buAutoNum type="arabicPeriod"/>
            </a:pPr>
            <a:r>
              <a:rPr lang="ko-KR" altLang="en-US" sz="1600"/>
              <a:t>공유 오피스 무료체험 후 유료 전환율 개선안 기획</a:t>
            </a:r>
            <a:endParaRPr lang="en-US" altLang="ko-KR" sz="1600"/>
          </a:p>
          <a:p>
            <a:pPr marL="360000" indent="-360000" algn="l">
              <a:buFont typeface="+mj-lt"/>
              <a:buAutoNum type="arabicPeriod"/>
            </a:pPr>
            <a:r>
              <a:rPr lang="ko-KR" altLang="en-US" sz="1600"/>
              <a:t>청소년 대상 앙케이트 서비스 질문 후보 배치 알고리즘 개선</a:t>
            </a:r>
            <a:endParaRPr lang="en-US" altLang="ko-KR" sz="1600"/>
          </a:p>
          <a:p>
            <a:pPr marL="360000" indent="-360000" algn="l">
              <a:buFont typeface="+mj-lt"/>
              <a:buAutoNum type="arabicPeriod"/>
            </a:pPr>
            <a:r>
              <a:rPr lang="ko-KR" altLang="en-US" sz="1600"/>
              <a:t>구독 결제 서비스 이탈 요인 탐색</a:t>
            </a:r>
            <a:endParaRPr lang="en-US" altLang="ko-KR" sz="160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606A1F7-1393-F01A-4FDD-5BBF72AD9DEF}"/>
              </a:ext>
            </a:extLst>
          </p:cNvPr>
          <p:cNvCxnSpPr/>
          <p:nvPr/>
        </p:nvCxnSpPr>
        <p:spPr>
          <a:xfrm>
            <a:off x="0" y="4702633"/>
            <a:ext cx="6858000" cy="0"/>
          </a:xfrm>
          <a:prstGeom prst="line">
            <a:avLst/>
          </a:prstGeom>
          <a:ln w="28575">
            <a:solidFill>
              <a:srgbClr val="2D53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63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모서리가 접힌 도형 50">
            <a:extLst>
              <a:ext uri="{FF2B5EF4-FFF2-40B4-BE49-F238E27FC236}">
                <a16:creationId xmlns:a16="http://schemas.microsoft.com/office/drawing/2014/main" id="{FD743AAE-CE3B-D830-EBCF-2FCF3E4771FA}"/>
              </a:ext>
            </a:extLst>
          </p:cNvPr>
          <p:cNvSpPr/>
          <p:nvPr/>
        </p:nvSpPr>
        <p:spPr>
          <a:xfrm>
            <a:off x="3646883" y="4888742"/>
            <a:ext cx="2738438" cy="1992869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모서리가 접힌 도형 51">
            <a:extLst>
              <a:ext uri="{FF2B5EF4-FFF2-40B4-BE49-F238E27FC236}">
                <a16:creationId xmlns:a16="http://schemas.microsoft.com/office/drawing/2014/main" id="{9D928E3A-DD6D-64EA-78A8-08A01E8822E3}"/>
              </a:ext>
            </a:extLst>
          </p:cNvPr>
          <p:cNvSpPr/>
          <p:nvPr/>
        </p:nvSpPr>
        <p:spPr>
          <a:xfrm>
            <a:off x="471484" y="4888742"/>
            <a:ext cx="2738440" cy="1992869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모서리가 접힌 도형 49">
            <a:extLst>
              <a:ext uri="{FF2B5EF4-FFF2-40B4-BE49-F238E27FC236}">
                <a16:creationId xmlns:a16="http://schemas.microsoft.com/office/drawing/2014/main" id="{B51F589D-449F-D873-4DC2-D054875434DB}"/>
              </a:ext>
            </a:extLst>
          </p:cNvPr>
          <p:cNvSpPr/>
          <p:nvPr/>
        </p:nvSpPr>
        <p:spPr>
          <a:xfrm>
            <a:off x="3646883" y="2617094"/>
            <a:ext cx="2738438" cy="1845369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모서리가 접힌 도형 48">
            <a:extLst>
              <a:ext uri="{FF2B5EF4-FFF2-40B4-BE49-F238E27FC236}">
                <a16:creationId xmlns:a16="http://schemas.microsoft.com/office/drawing/2014/main" id="{C0D835DE-14E6-6CEA-483B-2CA0A19321D5}"/>
              </a:ext>
            </a:extLst>
          </p:cNvPr>
          <p:cNvSpPr/>
          <p:nvPr/>
        </p:nvSpPr>
        <p:spPr>
          <a:xfrm>
            <a:off x="471486" y="2617094"/>
            <a:ext cx="2738438" cy="1845369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AE4CAC-2F63-3D77-B53F-66EE09A73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1. </a:t>
            </a:r>
            <a:r>
              <a:rPr lang="ko-KR" altLang="en-US" sz="2400"/>
              <a:t>지하철역 노인 친화 점수 개발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C8DFD8-082E-5F15-49CA-49DAA818C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872697"/>
            <a:ext cx="5915025" cy="15180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1800"/>
              <a:t>  프로젝트 개요</a:t>
            </a:r>
            <a:endParaRPr lang="en-US" altLang="ko-KR" sz="1800"/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현황</a:t>
            </a:r>
            <a:r>
              <a:rPr lang="en-US" altLang="ko-KR" sz="1400"/>
              <a:t>: </a:t>
            </a:r>
            <a:r>
              <a:rPr lang="ko-KR" altLang="en-US" sz="1400"/>
              <a:t>고령화가 진행됨에 따라 노인 지하철 이용객도 꾸준히 증가할 것으로 예상</a:t>
            </a:r>
            <a:endParaRPr lang="en-US" altLang="ko-KR" sz="1400"/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문제</a:t>
            </a:r>
            <a:r>
              <a:rPr lang="en-US" altLang="ko-KR" sz="1400"/>
              <a:t>: </a:t>
            </a:r>
            <a:r>
              <a:rPr lang="ko-KR" altLang="en-US" sz="1400"/>
              <a:t>노인들의 편리한 지하철 이용을 위해 어떤 지하철역부터 개선해야 하는가</a:t>
            </a:r>
            <a:r>
              <a:rPr lang="en-US" altLang="ko-KR" sz="1400"/>
              <a:t>?</a:t>
            </a:r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목표</a:t>
            </a:r>
            <a:r>
              <a:rPr lang="en-US" altLang="ko-KR" sz="1400"/>
              <a:t>: </a:t>
            </a:r>
            <a:r>
              <a:rPr lang="ko-KR" altLang="en-US" sz="1400"/>
              <a:t>서울시 내 노인 이용객을 위한 개선이 필요한 지하철역을 정량적으로 제시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E0A57-D923-68C5-A553-0CF0D85CB082}"/>
              </a:ext>
            </a:extLst>
          </p:cNvPr>
          <p:cNvSpPr txBox="1"/>
          <p:nvPr/>
        </p:nvSpPr>
        <p:spPr>
          <a:xfrm>
            <a:off x="471487" y="1976236"/>
            <a:ext cx="591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800"/>
              <a:t>프로세스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78A88-A3CD-75DC-314D-A544F6CAE203}"/>
              </a:ext>
            </a:extLst>
          </p:cNvPr>
          <p:cNvSpPr txBox="1"/>
          <p:nvPr/>
        </p:nvSpPr>
        <p:spPr>
          <a:xfrm>
            <a:off x="471487" y="6881611"/>
            <a:ext cx="59150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800"/>
              <a:t>결과</a:t>
            </a:r>
            <a:endParaRPr lang="en-US" altLang="ko-KR" sz="18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/>
              <a:t>위험 점수</a:t>
            </a:r>
            <a:r>
              <a:rPr lang="en-US" altLang="ko-KR" sz="1400"/>
              <a:t>, </a:t>
            </a:r>
            <a:r>
              <a:rPr lang="ko-KR" altLang="en-US" sz="1400"/>
              <a:t>접근성 점수</a:t>
            </a:r>
            <a:r>
              <a:rPr lang="en-US" altLang="ko-KR" sz="1400"/>
              <a:t>, </a:t>
            </a:r>
            <a:r>
              <a:rPr lang="ko-KR" altLang="en-US" sz="1400"/>
              <a:t>노인 친화 점수 대비 이용객이 많거나 적은 지하철역을 확인하고 해당 역의 특징이나 문제점을 확인 가능</a:t>
            </a:r>
            <a:endParaRPr lang="en-US" altLang="ko-KR" sz="140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ko-KR" altLang="en-US" sz="1400" b="1" u="sng"/>
              <a:t>선릉역</a:t>
            </a:r>
            <a:r>
              <a:rPr lang="ko-KR" altLang="en-US" sz="1400"/>
              <a:t>이 위험 점수는 높고 접근성 점수는 낮은데 이용객이 많음</a:t>
            </a:r>
            <a:endParaRPr lang="en-US" altLang="ko-KR" sz="1400"/>
          </a:p>
          <a:p>
            <a:pPr marL="1200150" lvl="2" indent="-285750">
              <a:buFont typeface="Wingdings" panose="05000000000000000000" pitchFamily="2" charset="2"/>
              <a:buChar char="ü"/>
            </a:pPr>
            <a:endParaRPr lang="en-US" altLang="ko-KR" sz="8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/>
              <a:t>웹 리서치와 선릉역 방문을 통해 알아낸 사실</a:t>
            </a:r>
            <a:endParaRPr lang="en-US" altLang="ko-KR" sz="140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ko-KR" altLang="en-US" sz="1400"/>
              <a:t>빈곤 노인들이 다단계 기업으로 출근하기 위해 선릉역을 이용하는 것으로 확인</a:t>
            </a:r>
            <a:endParaRPr lang="en-US" altLang="ko-KR" sz="1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1800"/>
              <a:t>비고</a:t>
            </a:r>
            <a:endParaRPr lang="en-US" altLang="ko-KR" sz="18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/>
              <a:t>KBS</a:t>
            </a:r>
            <a:r>
              <a:rPr lang="ko-KR" altLang="en-US" sz="1400"/>
              <a:t>에서 </a:t>
            </a:r>
            <a:r>
              <a:rPr lang="en-US" altLang="ko-KR" sz="1400"/>
              <a:t>KT </a:t>
            </a:r>
            <a:r>
              <a:rPr lang="ko-KR" altLang="en-US" sz="1400"/>
              <a:t>이동통화 데이터를 분석한 결과와 동일</a:t>
            </a:r>
            <a:endParaRPr lang="en-US" altLang="ko-KR" sz="1400"/>
          </a:p>
          <a:p>
            <a:pPr lvl="1"/>
            <a:r>
              <a:rPr lang="en-US" altLang="ko-KR" sz="1200">
                <a:hlinkClick r:id="rId2"/>
              </a:rPr>
              <a:t>[</a:t>
            </a:r>
            <a:r>
              <a:rPr lang="ko-KR" altLang="en-US" sz="1200">
                <a:hlinkClick r:id="rId2"/>
              </a:rPr>
              <a:t>창</a:t>
            </a:r>
            <a:r>
              <a:rPr lang="en-US" altLang="ko-KR" sz="1200">
                <a:hlinkClick r:id="rId2"/>
              </a:rPr>
              <a:t>+] </a:t>
            </a:r>
            <a:r>
              <a:rPr lang="ko-KR" altLang="en-US" sz="1200">
                <a:hlinkClick r:id="rId2"/>
              </a:rPr>
              <a:t>가난한 노인들은 왜 선릉역에 모일까</a:t>
            </a:r>
            <a:r>
              <a:rPr lang="en-US" altLang="ko-KR" sz="1200">
                <a:hlinkClick r:id="rId2"/>
              </a:rPr>
              <a:t>?...</a:t>
            </a:r>
            <a:r>
              <a:rPr lang="ko-KR" altLang="en-US" sz="1200">
                <a:hlinkClick r:id="rId2"/>
              </a:rPr>
              <a:t>빅데이터로 보는 </a:t>
            </a:r>
            <a:r>
              <a:rPr lang="en-US" altLang="ko-KR" sz="1200">
                <a:hlinkClick r:id="rId2"/>
              </a:rPr>
              <a:t>'</a:t>
            </a:r>
            <a:r>
              <a:rPr lang="ko-KR" altLang="en-US" sz="1200">
                <a:hlinkClick r:id="rId2"/>
              </a:rPr>
              <a:t>흔적</a:t>
            </a:r>
            <a:r>
              <a:rPr lang="en-US" altLang="ko-KR" sz="1200">
                <a:hlinkClick r:id="rId2"/>
              </a:rPr>
              <a:t>' (KBS 24.10.29)</a:t>
            </a:r>
            <a:endParaRPr lang="en-US" altLang="ko-KR" sz="12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69AA24-346F-5F94-DFF0-D508A0A46FB7}"/>
              </a:ext>
            </a:extLst>
          </p:cNvPr>
          <p:cNvSpPr/>
          <p:nvPr/>
        </p:nvSpPr>
        <p:spPr>
          <a:xfrm>
            <a:off x="471489" y="2335906"/>
            <a:ext cx="2738438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1. </a:t>
            </a:r>
            <a:r>
              <a:rPr lang="ko-KR" altLang="en-US" sz="1400">
                <a:solidFill>
                  <a:schemeClr val="tx1"/>
                </a:solidFill>
              </a:rPr>
              <a:t>데이터 수집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1036523-5B5A-B8C1-226A-A01DEBA0766D}"/>
              </a:ext>
            </a:extLst>
          </p:cNvPr>
          <p:cNvSpPr/>
          <p:nvPr/>
        </p:nvSpPr>
        <p:spPr>
          <a:xfrm>
            <a:off x="3648074" y="2324100"/>
            <a:ext cx="2738438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2. EDA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C7EDA1-AADA-A75B-D737-B54B23A3BAE6}"/>
              </a:ext>
            </a:extLst>
          </p:cNvPr>
          <p:cNvSpPr/>
          <p:nvPr/>
        </p:nvSpPr>
        <p:spPr>
          <a:xfrm>
            <a:off x="471489" y="4631431"/>
            <a:ext cx="2738438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3. </a:t>
            </a:r>
            <a:r>
              <a:rPr lang="ko-KR" altLang="en-US" sz="1400">
                <a:solidFill>
                  <a:schemeClr val="tx1"/>
                </a:solidFill>
              </a:rPr>
              <a:t>지표 개발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3969E7-AD00-2A05-A282-AF1E79B6E54A}"/>
              </a:ext>
            </a:extLst>
          </p:cNvPr>
          <p:cNvSpPr/>
          <p:nvPr/>
        </p:nvSpPr>
        <p:spPr>
          <a:xfrm>
            <a:off x="3648074" y="4619625"/>
            <a:ext cx="2738438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4. </a:t>
            </a:r>
            <a:r>
              <a:rPr lang="ko-KR" altLang="en-US" sz="1400">
                <a:solidFill>
                  <a:schemeClr val="tx1"/>
                </a:solidFill>
              </a:rPr>
              <a:t>대시보드 제작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60D8D6-CBF6-5DE1-BB7D-9A5F90C6EA4B}"/>
              </a:ext>
            </a:extLst>
          </p:cNvPr>
          <p:cNvSpPr txBox="1"/>
          <p:nvPr/>
        </p:nvSpPr>
        <p:spPr>
          <a:xfrm>
            <a:off x="471487" y="3014864"/>
            <a:ext cx="1368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공공데이터포털</a:t>
            </a:r>
            <a:r>
              <a:rPr lang="en-US" altLang="ko-KR" sz="1000"/>
              <a:t>(CSV)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F92B96-2C51-6174-6661-CB5022EFA790}"/>
              </a:ext>
            </a:extLst>
          </p:cNvPr>
          <p:cNvSpPr txBox="1"/>
          <p:nvPr/>
        </p:nvSpPr>
        <p:spPr>
          <a:xfrm>
            <a:off x="1839516" y="3014864"/>
            <a:ext cx="1368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국토교통부 </a:t>
            </a:r>
            <a:r>
              <a:rPr lang="en-US" altLang="ko-KR" sz="1000"/>
              <a:t>API(JSON)</a:t>
            </a:r>
            <a:endParaRPr lang="ko-KR" altLang="en-US" sz="1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80E7BC-E072-7909-CEDF-E88AFCE5FE4D}"/>
              </a:ext>
            </a:extLst>
          </p:cNvPr>
          <p:cNvSpPr txBox="1"/>
          <p:nvPr/>
        </p:nvSpPr>
        <p:spPr>
          <a:xfrm>
            <a:off x="1071564" y="3535047"/>
            <a:ext cx="1538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종합 </a:t>
            </a:r>
            <a:r>
              <a:rPr lang="ko-KR" altLang="en-US" sz="1100"/>
              <a:t>데이터셋</a:t>
            </a:r>
            <a:endParaRPr lang="ko-KR" altLang="en-US" sz="1200"/>
          </a:p>
        </p:txBody>
      </p:sp>
      <p:pic>
        <p:nvPicPr>
          <p:cNvPr id="23" name="그래픽 22" descr="서버 윤곽선">
            <a:extLst>
              <a:ext uri="{FF2B5EF4-FFF2-40B4-BE49-F238E27FC236}">
                <a16:creationId xmlns:a16="http://schemas.microsoft.com/office/drawing/2014/main" id="{CDCDDF57-9ABA-89B0-87FD-C2B34516B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8523" y="3719428"/>
            <a:ext cx="703459" cy="703459"/>
          </a:xfrm>
          <a:prstGeom prst="rect">
            <a:avLst/>
          </a:prstGeom>
        </p:spPr>
      </p:pic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88E265C-E910-7DE0-7963-D53781FE7807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rot="16200000" flipH="1">
            <a:off x="1361124" y="3055463"/>
            <a:ext cx="273962" cy="6852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F74F195-3BDD-9724-2CD9-7C03DB96BD5A}"/>
              </a:ext>
            </a:extLst>
          </p:cNvPr>
          <p:cNvSpPr txBox="1"/>
          <p:nvPr/>
        </p:nvSpPr>
        <p:spPr>
          <a:xfrm>
            <a:off x="471487" y="2695575"/>
            <a:ext cx="27384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노인 이용객 수</a:t>
            </a:r>
            <a:r>
              <a:rPr lang="en-US" altLang="ko-KR" sz="1050"/>
              <a:t>, </a:t>
            </a:r>
            <a:r>
              <a:rPr lang="ko-KR" altLang="en-US" sz="1050"/>
              <a:t>안전사고 수 등 관련 데이터 수집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B3C510-6500-D202-5234-408D1CE2FA19}"/>
              </a:ext>
            </a:extLst>
          </p:cNvPr>
          <p:cNvSpPr txBox="1"/>
          <p:nvPr/>
        </p:nvSpPr>
        <p:spPr>
          <a:xfrm>
            <a:off x="3648072" y="2695575"/>
            <a:ext cx="27384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기술 통계 및 상관관계</a:t>
            </a:r>
            <a:r>
              <a:rPr lang="en-US" altLang="ko-KR" sz="1050"/>
              <a:t> </a:t>
            </a:r>
            <a:r>
              <a:rPr lang="ko-KR" altLang="en-US" sz="1050"/>
              <a:t>분석을 통해</a:t>
            </a:r>
            <a:endParaRPr lang="en-US" altLang="ko-KR" sz="1050"/>
          </a:p>
          <a:p>
            <a:pPr algn="ctr"/>
            <a:r>
              <a:rPr lang="ko-KR" altLang="en-US" sz="1050"/>
              <a:t>안전 관련 변인과 접근성 관련 변인 선정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131B02-3D32-DCE9-6910-A45E8F4BF791}"/>
              </a:ext>
            </a:extLst>
          </p:cNvPr>
          <p:cNvSpPr txBox="1"/>
          <p:nvPr/>
        </p:nvSpPr>
        <p:spPr>
          <a:xfrm>
            <a:off x="3648072" y="3208124"/>
            <a:ext cx="273844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안전 관련 변인</a:t>
            </a:r>
            <a:endParaRPr lang="en-US" altLang="ko-KR" sz="10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/>
              <a:t>연단 간격</a:t>
            </a:r>
            <a:r>
              <a:rPr lang="en-US" altLang="ko-KR" sz="1050"/>
              <a:t>, </a:t>
            </a:r>
            <a:r>
              <a:rPr lang="ko-KR" altLang="en-US" sz="1050"/>
              <a:t>지하철과 연단의 높이 차이</a:t>
            </a:r>
            <a:r>
              <a:rPr lang="en-US" altLang="ko-KR" sz="1050"/>
              <a:t>, </a:t>
            </a:r>
            <a:r>
              <a:rPr lang="ko-KR" altLang="en-US" sz="1050"/>
              <a:t>평균 환승거리</a:t>
            </a:r>
            <a:r>
              <a:rPr lang="en-US" altLang="ko-KR" sz="1050"/>
              <a:t>, </a:t>
            </a:r>
            <a:r>
              <a:rPr lang="ko-KR" altLang="en-US" sz="1050"/>
              <a:t>이동편의시설 수 등</a:t>
            </a:r>
            <a:endParaRPr lang="en-US" altLang="ko-KR" sz="1050"/>
          </a:p>
          <a:p>
            <a:r>
              <a:rPr lang="ko-KR" altLang="en-US" sz="1050"/>
              <a:t>접근성 관련 변인</a:t>
            </a:r>
            <a:endParaRPr lang="en-US" altLang="ko-KR" sz="10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/>
              <a:t>전통 시장 수</a:t>
            </a:r>
            <a:r>
              <a:rPr lang="en-US" altLang="ko-KR" sz="1050"/>
              <a:t>, </a:t>
            </a:r>
            <a:r>
              <a:rPr lang="ko-KR" altLang="en-US" sz="1050"/>
              <a:t>공원 수</a:t>
            </a:r>
            <a:r>
              <a:rPr lang="en-US" altLang="ko-KR" sz="1050"/>
              <a:t>, </a:t>
            </a:r>
            <a:r>
              <a:rPr lang="ko-KR" altLang="en-US" sz="1050"/>
              <a:t>의료시설 수</a:t>
            </a:r>
            <a:r>
              <a:rPr lang="en-US" altLang="ko-KR" sz="1050"/>
              <a:t>, </a:t>
            </a:r>
            <a:r>
              <a:rPr lang="ko-KR" altLang="en-US" sz="1050"/>
              <a:t>복지시설 수</a:t>
            </a:r>
            <a:r>
              <a:rPr lang="en-US" altLang="ko-KR" sz="1050"/>
              <a:t>, </a:t>
            </a:r>
            <a:r>
              <a:rPr lang="ko-KR" altLang="en-US" sz="1050"/>
              <a:t>종교시설 수 등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498EDA-650B-C459-5117-89658BE81FA2}"/>
              </a:ext>
            </a:extLst>
          </p:cNvPr>
          <p:cNvSpPr txBox="1"/>
          <p:nvPr/>
        </p:nvSpPr>
        <p:spPr>
          <a:xfrm>
            <a:off x="471487" y="4989538"/>
            <a:ext cx="27384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회귀분석을 이용해</a:t>
            </a:r>
            <a:endParaRPr lang="en-US" altLang="ko-KR" sz="1050"/>
          </a:p>
          <a:p>
            <a:pPr algn="ctr"/>
            <a:r>
              <a:rPr lang="ko-KR" altLang="en-US" sz="1050"/>
              <a:t>유의미한 변인과 회귀계수를 사용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7AAE38-3FA9-E73F-C1A9-F4E301FC2531}"/>
              </a:ext>
            </a:extLst>
          </p:cNvPr>
          <p:cNvSpPr txBox="1"/>
          <p:nvPr/>
        </p:nvSpPr>
        <p:spPr>
          <a:xfrm>
            <a:off x="471487" y="5405036"/>
            <a:ext cx="2738440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위험 점수</a:t>
            </a:r>
            <a:r>
              <a:rPr lang="en-US" altLang="ko-KR" sz="1050"/>
              <a:t>(0~10</a:t>
            </a:r>
            <a:r>
              <a:rPr lang="ko-KR" altLang="en-US" sz="1050"/>
              <a:t>점</a:t>
            </a:r>
            <a:r>
              <a:rPr lang="en-US" altLang="ko-KR" sz="105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/>
              <a:t>연단 간격</a:t>
            </a:r>
            <a:r>
              <a:rPr lang="en-US" altLang="ko-KR" sz="1050"/>
              <a:t>, </a:t>
            </a:r>
            <a:r>
              <a:rPr lang="ko-KR" altLang="en-US" sz="1050"/>
              <a:t>평균 환승거리</a:t>
            </a:r>
            <a:endParaRPr lang="en-US" altLang="ko-KR" sz="1050"/>
          </a:p>
          <a:p>
            <a:r>
              <a:rPr lang="ko-KR" altLang="en-US" sz="1050"/>
              <a:t>접근성 점수</a:t>
            </a:r>
            <a:r>
              <a:rPr lang="en-US" altLang="ko-KR" sz="1050"/>
              <a:t>(0~10</a:t>
            </a:r>
            <a:r>
              <a:rPr lang="ko-KR" altLang="en-US" sz="1050"/>
              <a:t>점</a:t>
            </a:r>
            <a:r>
              <a:rPr lang="en-US" altLang="ko-KR" sz="105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/>
              <a:t>전통 시장 수</a:t>
            </a:r>
            <a:r>
              <a:rPr lang="en-US" altLang="ko-KR" sz="1050"/>
              <a:t>, </a:t>
            </a:r>
            <a:r>
              <a:rPr lang="ko-KR" altLang="en-US" sz="1050"/>
              <a:t>공원 수</a:t>
            </a:r>
            <a:r>
              <a:rPr lang="en-US" altLang="ko-KR" sz="1050"/>
              <a:t>, </a:t>
            </a:r>
            <a:r>
              <a:rPr lang="ko-KR" altLang="en-US" sz="1050"/>
              <a:t>의료시설 수</a:t>
            </a:r>
            <a:endParaRPr lang="en-US" altLang="ko-KR" sz="1050"/>
          </a:p>
          <a:p>
            <a:r>
              <a:rPr lang="ko-KR" altLang="en-US" sz="1050"/>
              <a:t>노인 친화 점수</a:t>
            </a:r>
            <a:r>
              <a:rPr lang="en-US" altLang="ko-KR" sz="1050"/>
              <a:t>(0~10</a:t>
            </a:r>
            <a:r>
              <a:rPr lang="ko-KR" altLang="en-US" sz="1050"/>
              <a:t>점</a:t>
            </a:r>
            <a:r>
              <a:rPr lang="en-US" altLang="ko-KR" sz="105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/>
              <a:t>“</a:t>
            </a:r>
            <a:r>
              <a:rPr lang="ko-KR" altLang="en-US" sz="1050"/>
              <a:t>접근성 점수 </a:t>
            </a:r>
            <a:r>
              <a:rPr lang="en-US" altLang="ko-KR" sz="1050"/>
              <a:t>– </a:t>
            </a:r>
            <a:r>
              <a:rPr lang="ko-KR" altLang="en-US" sz="1050"/>
              <a:t>위험 점수</a:t>
            </a:r>
            <a:r>
              <a:rPr lang="en-US" altLang="ko-KR" sz="1050"/>
              <a:t>”</a:t>
            </a:r>
            <a:r>
              <a:rPr lang="ko-KR" altLang="en-US" sz="1050"/>
              <a:t> 이후 </a:t>
            </a:r>
            <a:r>
              <a:rPr lang="en-US" altLang="ko-KR" sz="1050"/>
              <a:t>MinMaxScaler </a:t>
            </a:r>
            <a:r>
              <a:rPr lang="ko-KR" altLang="en-US" sz="1050"/>
              <a:t>적용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F616EB-16F0-F799-78ED-6F8A4B5E4C6C}"/>
              </a:ext>
            </a:extLst>
          </p:cNvPr>
          <p:cNvSpPr txBox="1"/>
          <p:nvPr/>
        </p:nvSpPr>
        <p:spPr>
          <a:xfrm>
            <a:off x="3648072" y="4989538"/>
            <a:ext cx="27384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Flask</a:t>
            </a:r>
            <a:r>
              <a:rPr lang="ko-KR" altLang="en-US" sz="1050"/>
              <a:t>를 이용해 각 지하철역마다 노인 이용객 수와 점수들을 확인할 수 있는 버블차트 제작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AFD7390-7716-4990-B0C4-84ED5ADC0D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9214"/>
          <a:stretch/>
        </p:blipFill>
        <p:spPr>
          <a:xfrm>
            <a:off x="4243596" y="5388460"/>
            <a:ext cx="1547393" cy="14364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C7460850-6828-29F6-BDC0-9662B460EB84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rot="5400000">
            <a:off x="2045139" y="3056655"/>
            <a:ext cx="273962" cy="6828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9E36A44-733C-9266-45D4-C20337E9388C}"/>
              </a:ext>
            </a:extLst>
          </p:cNvPr>
          <p:cNvSpPr txBox="1"/>
          <p:nvPr/>
        </p:nvSpPr>
        <p:spPr>
          <a:xfrm>
            <a:off x="471484" y="528495"/>
            <a:ext cx="4052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2024.08.27 ~ 2024.09.10</a:t>
            </a:r>
            <a:endParaRPr lang="ko-KR" altLang="en-US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87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D21C9-60FE-871C-4887-3988F9DBD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모서리가 접힌 도형 50">
            <a:extLst>
              <a:ext uri="{FF2B5EF4-FFF2-40B4-BE49-F238E27FC236}">
                <a16:creationId xmlns:a16="http://schemas.microsoft.com/office/drawing/2014/main" id="{2A7F3BB5-B2DF-4C7F-DF02-A14D533CF545}"/>
              </a:ext>
            </a:extLst>
          </p:cNvPr>
          <p:cNvSpPr/>
          <p:nvPr/>
        </p:nvSpPr>
        <p:spPr>
          <a:xfrm>
            <a:off x="470296" y="6596892"/>
            <a:ext cx="5915025" cy="1564445"/>
          </a:xfrm>
          <a:prstGeom prst="foldedCorner">
            <a:avLst>
              <a:gd name="adj" fmla="val 1230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모서리가 접힌 도형 48">
            <a:extLst>
              <a:ext uri="{FF2B5EF4-FFF2-40B4-BE49-F238E27FC236}">
                <a16:creationId xmlns:a16="http://schemas.microsoft.com/office/drawing/2014/main" id="{78B11C9D-EB36-18D6-8CDD-F2463D73BFFF}"/>
              </a:ext>
            </a:extLst>
          </p:cNvPr>
          <p:cNvSpPr/>
          <p:nvPr/>
        </p:nvSpPr>
        <p:spPr>
          <a:xfrm>
            <a:off x="471485" y="2617094"/>
            <a:ext cx="5913836" cy="1845369"/>
          </a:xfrm>
          <a:prstGeom prst="foldedCorner">
            <a:avLst>
              <a:gd name="adj" fmla="val 104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DA891EA-9068-9FDC-5BA2-9E3A514E5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2. </a:t>
            </a:r>
            <a:r>
              <a:rPr lang="ko-KR" altLang="en-US" sz="2400"/>
              <a:t>로스트아크 강화 비용 예측 대시보드 제작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BAAAF-6318-4003-84FC-4822B4DF0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872697"/>
            <a:ext cx="5915025" cy="15180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1800"/>
              <a:t>  프로젝트 개요</a:t>
            </a:r>
            <a:endParaRPr lang="en-US" altLang="ko-KR" sz="1800"/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현황</a:t>
            </a:r>
            <a:r>
              <a:rPr lang="en-US" altLang="ko-KR" sz="1400"/>
              <a:t>: </a:t>
            </a:r>
            <a:r>
              <a:rPr lang="ko-KR" altLang="en-US"/>
              <a:t>강화</a:t>
            </a:r>
            <a:r>
              <a:rPr lang="en-US" altLang="ko-KR"/>
              <a:t>(</a:t>
            </a:r>
            <a:r>
              <a:rPr lang="ko-KR" altLang="en-US"/>
              <a:t>레벨업</a:t>
            </a:r>
            <a:r>
              <a:rPr lang="en-US" altLang="ko-KR"/>
              <a:t>)</a:t>
            </a:r>
            <a:r>
              <a:rPr lang="ko-KR" altLang="en-US"/>
              <a:t>에 필요한 비용이 높아지면서 유저들의 부담이 증가</a:t>
            </a:r>
            <a:endParaRPr lang="en-US" altLang="ko-KR" sz="1400"/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문제</a:t>
            </a:r>
            <a:r>
              <a:rPr lang="en-US" altLang="ko-KR" sz="1400"/>
              <a:t>: </a:t>
            </a:r>
            <a:r>
              <a:rPr lang="ko-KR" altLang="en-US" sz="1400"/>
              <a:t>언제 강화를 해야 가장 비용 부담이 덜할까</a:t>
            </a:r>
            <a:r>
              <a:rPr lang="en-US" altLang="ko-KR" sz="1400"/>
              <a:t>?</a:t>
            </a:r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목표</a:t>
            </a:r>
            <a:r>
              <a:rPr lang="en-US" altLang="ko-KR" sz="1400"/>
              <a:t>: </a:t>
            </a:r>
            <a:r>
              <a:rPr lang="ko-KR" altLang="en-US" sz="1400"/>
              <a:t>검색일과 다음 날 중 저렴한 날을 예측해서 안내하는 대시보드 제작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2538B-8216-750F-0C24-2D266674F6C3}"/>
              </a:ext>
            </a:extLst>
          </p:cNvPr>
          <p:cNvSpPr txBox="1"/>
          <p:nvPr/>
        </p:nvSpPr>
        <p:spPr>
          <a:xfrm>
            <a:off x="471487" y="1976236"/>
            <a:ext cx="591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800"/>
              <a:t>프로세스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B50F4B-3527-62F3-EEA1-ECD830EDAF6A}"/>
              </a:ext>
            </a:extLst>
          </p:cNvPr>
          <p:cNvSpPr/>
          <p:nvPr/>
        </p:nvSpPr>
        <p:spPr>
          <a:xfrm>
            <a:off x="471488" y="2335906"/>
            <a:ext cx="5913836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1. </a:t>
            </a:r>
            <a:r>
              <a:rPr lang="ko-KR" altLang="en-US" sz="1400">
                <a:solidFill>
                  <a:schemeClr val="tx1"/>
                </a:solidFill>
              </a:rPr>
              <a:t>파이프라인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631690-F00E-041E-EA5B-40CE93EDBF04}"/>
              </a:ext>
            </a:extLst>
          </p:cNvPr>
          <p:cNvSpPr/>
          <p:nvPr/>
        </p:nvSpPr>
        <p:spPr>
          <a:xfrm>
            <a:off x="471487" y="6327775"/>
            <a:ext cx="5915025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3. EDA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447E7B-B7BE-CB2A-8649-0762065CE338}"/>
              </a:ext>
            </a:extLst>
          </p:cNvPr>
          <p:cNvSpPr txBox="1"/>
          <p:nvPr/>
        </p:nvSpPr>
        <p:spPr>
          <a:xfrm>
            <a:off x="568827" y="3558591"/>
            <a:ext cx="876603" cy="369332"/>
          </a:xfrm>
          <a:prstGeom prst="rect">
            <a:avLst/>
          </a:prstGeom>
          <a:solidFill>
            <a:srgbClr val="FFFFFF"/>
          </a:solidFill>
          <a:ln>
            <a:solidFill>
              <a:srgbClr val="2D538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LostArk Open API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5D014B-1583-63D9-9697-28D4FE888036}"/>
              </a:ext>
            </a:extLst>
          </p:cNvPr>
          <p:cNvSpPr txBox="1"/>
          <p:nvPr/>
        </p:nvSpPr>
        <p:spPr>
          <a:xfrm>
            <a:off x="471483" y="6697688"/>
            <a:ext cx="59150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7</a:t>
            </a:r>
            <a:r>
              <a:rPr lang="ko-KR" altLang="en-US" sz="1050"/>
              <a:t>일 간격의 주기성 및 매출에 영향을 미치는 외부 요인 발견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30683-0ED9-5A28-DA61-A1C832B32DC2}"/>
              </a:ext>
            </a:extLst>
          </p:cNvPr>
          <p:cNvSpPr txBox="1"/>
          <p:nvPr/>
        </p:nvSpPr>
        <p:spPr>
          <a:xfrm>
            <a:off x="1628205" y="2908073"/>
            <a:ext cx="2886823" cy="246221"/>
          </a:xfrm>
          <a:prstGeom prst="rect">
            <a:avLst/>
          </a:prstGeom>
          <a:solidFill>
            <a:srgbClr val="804DFF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solidFill>
                  <a:schemeClr val="bg1"/>
                </a:solidFill>
              </a:rPr>
              <a:t>Google</a:t>
            </a:r>
            <a:r>
              <a:rPr lang="ko-KR" altLang="en-US" sz="1000">
                <a:solidFill>
                  <a:schemeClr val="bg1"/>
                </a:solidFill>
              </a:rPr>
              <a:t> </a:t>
            </a:r>
            <a:r>
              <a:rPr lang="en-US" altLang="ko-KR" sz="1000">
                <a:solidFill>
                  <a:schemeClr val="bg1"/>
                </a:solidFill>
              </a:rPr>
              <a:t>Cloud</a:t>
            </a:r>
            <a:r>
              <a:rPr lang="ko-KR" altLang="en-US" sz="1000">
                <a:solidFill>
                  <a:schemeClr val="bg1"/>
                </a:solidFill>
              </a:rPr>
              <a:t> </a:t>
            </a:r>
            <a:r>
              <a:rPr lang="en-US" altLang="ko-KR" sz="1000">
                <a:solidFill>
                  <a:schemeClr val="bg1"/>
                </a:solidFill>
              </a:rPr>
              <a:t>Platform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161833-04DD-2D19-8357-05A28EBAA46B}"/>
              </a:ext>
            </a:extLst>
          </p:cNvPr>
          <p:cNvSpPr txBox="1"/>
          <p:nvPr/>
        </p:nvSpPr>
        <p:spPr>
          <a:xfrm>
            <a:off x="4756197" y="2889539"/>
            <a:ext cx="1368029" cy="246221"/>
          </a:xfrm>
          <a:prstGeom prst="rect">
            <a:avLst/>
          </a:prstGeom>
          <a:solidFill>
            <a:srgbClr val="804DFF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solidFill>
                  <a:schemeClr val="bg1"/>
                </a:solidFill>
              </a:rPr>
              <a:t>Looker Studio</a:t>
            </a:r>
            <a:endParaRPr lang="ko-KR" altLang="en-US" sz="1000">
              <a:solidFill>
                <a:schemeClr val="bg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4DA6D9C-DAAF-D380-1540-C5FE7267EA6F}"/>
              </a:ext>
            </a:extLst>
          </p:cNvPr>
          <p:cNvSpPr/>
          <p:nvPr/>
        </p:nvSpPr>
        <p:spPr>
          <a:xfrm>
            <a:off x="4756194" y="3130567"/>
            <a:ext cx="1368029" cy="1170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FEB12AA6-C7C5-9B59-CF06-E7945E535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843" y="3240460"/>
            <a:ext cx="996735" cy="89995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531F9E1-303C-C8FA-F825-77BFBD6A1635}"/>
              </a:ext>
            </a:extLst>
          </p:cNvPr>
          <p:cNvSpPr txBox="1"/>
          <p:nvPr/>
        </p:nvSpPr>
        <p:spPr>
          <a:xfrm>
            <a:off x="437841" y="3026805"/>
            <a:ext cx="11903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데이터 적재 자동화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9CA063-3BC3-A585-90BE-0843A1F41F11}"/>
              </a:ext>
            </a:extLst>
          </p:cNvPr>
          <p:cNvSpPr txBox="1"/>
          <p:nvPr/>
        </p:nvSpPr>
        <p:spPr>
          <a:xfrm>
            <a:off x="4828206" y="2689047"/>
            <a:ext cx="1224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대시보드 제작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9D2C504-53E0-3843-0743-FC16A2011E87}"/>
              </a:ext>
            </a:extLst>
          </p:cNvPr>
          <p:cNvSpPr/>
          <p:nvPr/>
        </p:nvSpPr>
        <p:spPr>
          <a:xfrm>
            <a:off x="1628205" y="3154294"/>
            <a:ext cx="2886823" cy="1170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22270E-D156-3B2B-0FEE-3384A48B7BC1}"/>
              </a:ext>
            </a:extLst>
          </p:cNvPr>
          <p:cNvSpPr txBox="1"/>
          <p:nvPr/>
        </p:nvSpPr>
        <p:spPr>
          <a:xfrm>
            <a:off x="3402101" y="3400515"/>
            <a:ext cx="868741" cy="246221"/>
          </a:xfrm>
          <a:prstGeom prst="rect">
            <a:avLst/>
          </a:prstGeom>
          <a:solidFill>
            <a:srgbClr val="FFFFFF"/>
          </a:solidFill>
          <a:ln>
            <a:solidFill>
              <a:srgbClr val="2D538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/>
              <a:t>BigQuery</a:t>
            </a:r>
            <a:endParaRPr lang="ko-KR" altLang="en-US" sz="10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53BA9A-EF4E-80E5-E30E-DA89D1673FE1}"/>
              </a:ext>
            </a:extLst>
          </p:cNvPr>
          <p:cNvSpPr txBox="1"/>
          <p:nvPr/>
        </p:nvSpPr>
        <p:spPr>
          <a:xfrm>
            <a:off x="3402101" y="3804813"/>
            <a:ext cx="868741" cy="246221"/>
          </a:xfrm>
          <a:prstGeom prst="rect">
            <a:avLst/>
          </a:prstGeom>
          <a:solidFill>
            <a:srgbClr val="FFFFFF"/>
          </a:solidFill>
          <a:ln>
            <a:solidFill>
              <a:srgbClr val="2D538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/>
              <a:t>Python</a:t>
            </a:r>
            <a:endParaRPr lang="ko-KR" altLang="en-US" sz="10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136B56-11B5-E5E8-099F-41EE483DD41F}"/>
              </a:ext>
            </a:extLst>
          </p:cNvPr>
          <p:cNvSpPr txBox="1"/>
          <p:nvPr/>
        </p:nvSpPr>
        <p:spPr>
          <a:xfrm>
            <a:off x="1930032" y="3433467"/>
            <a:ext cx="868741" cy="553998"/>
          </a:xfrm>
          <a:prstGeom prst="rect">
            <a:avLst/>
          </a:prstGeom>
          <a:solidFill>
            <a:srgbClr val="FFFFFF"/>
          </a:solidFill>
          <a:ln>
            <a:solidFill>
              <a:srgbClr val="2D538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/>
              <a:t>Goolge Cloud Storage</a:t>
            </a:r>
            <a:endParaRPr lang="ko-KR" altLang="en-US" sz="1000"/>
          </a:p>
        </p:txBody>
      </p:sp>
      <p:pic>
        <p:nvPicPr>
          <p:cNvPr id="60" name="그래픽 59" descr="뒤로 단색으로 채워진">
            <a:extLst>
              <a:ext uri="{FF2B5EF4-FFF2-40B4-BE49-F238E27FC236}">
                <a16:creationId xmlns:a16="http://schemas.microsoft.com/office/drawing/2014/main" id="{47214F82-CFEC-55A0-56B9-0F19ACCBC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21149">
            <a:off x="1486348" y="3459828"/>
            <a:ext cx="438601" cy="438601"/>
          </a:xfrm>
          <a:prstGeom prst="rect">
            <a:avLst/>
          </a:prstGeom>
        </p:spPr>
      </p:pic>
      <p:pic>
        <p:nvPicPr>
          <p:cNvPr id="61" name="그래픽 60" descr="뒤로 단색으로 채워진">
            <a:extLst>
              <a:ext uri="{FF2B5EF4-FFF2-40B4-BE49-F238E27FC236}">
                <a16:creationId xmlns:a16="http://schemas.microsoft.com/office/drawing/2014/main" id="{3791F530-2D56-579C-723E-9CFB331DB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21149">
            <a:off x="2892809" y="3459828"/>
            <a:ext cx="438601" cy="438601"/>
          </a:xfrm>
          <a:prstGeom prst="rect">
            <a:avLst/>
          </a:prstGeom>
        </p:spPr>
      </p:pic>
      <p:sp>
        <p:nvSpPr>
          <p:cNvPr id="63" name="사각형: 모서리가 접힌 도형 62">
            <a:extLst>
              <a:ext uri="{FF2B5EF4-FFF2-40B4-BE49-F238E27FC236}">
                <a16:creationId xmlns:a16="http://schemas.microsoft.com/office/drawing/2014/main" id="{B3C02265-0B6F-8AD7-05B8-D4EABD53E4B5}"/>
              </a:ext>
            </a:extLst>
          </p:cNvPr>
          <p:cNvSpPr/>
          <p:nvPr/>
        </p:nvSpPr>
        <p:spPr>
          <a:xfrm>
            <a:off x="471485" y="4825169"/>
            <a:ext cx="5913836" cy="1439333"/>
          </a:xfrm>
          <a:prstGeom prst="foldedCorner">
            <a:avLst>
              <a:gd name="adj" fmla="val 104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96A07D7-2B73-D892-561F-C5DDC5B78C2A}"/>
              </a:ext>
            </a:extLst>
          </p:cNvPr>
          <p:cNvSpPr/>
          <p:nvPr/>
        </p:nvSpPr>
        <p:spPr>
          <a:xfrm>
            <a:off x="471488" y="4543982"/>
            <a:ext cx="5913836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2. </a:t>
            </a:r>
            <a:r>
              <a:rPr lang="ko-KR" altLang="en-US" sz="1400">
                <a:solidFill>
                  <a:schemeClr val="tx1"/>
                </a:solidFill>
              </a:rPr>
              <a:t>데이터 수집 및 적재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847C548-A435-3D4A-2054-F835F88E7889}"/>
              </a:ext>
            </a:extLst>
          </p:cNvPr>
          <p:cNvSpPr txBox="1"/>
          <p:nvPr/>
        </p:nvSpPr>
        <p:spPr>
          <a:xfrm>
            <a:off x="471485" y="4839713"/>
            <a:ext cx="59138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강화 재료 거래 데이터 수집 및 </a:t>
            </a:r>
            <a:r>
              <a:rPr lang="en-US" altLang="ko-KR" sz="1000"/>
              <a:t>GCS</a:t>
            </a:r>
            <a:r>
              <a:rPr lang="ko-KR" altLang="en-US" sz="1000"/>
              <a:t>에 적재 </a:t>
            </a:r>
            <a:endParaRPr lang="en-US" altLang="ko-KR" sz="1000"/>
          </a:p>
        </p:txBody>
      </p:sp>
      <p:pic>
        <p:nvPicPr>
          <p:cNvPr id="75" name="그래픽 74" descr="뒤로 단색으로 채워진">
            <a:extLst>
              <a:ext uri="{FF2B5EF4-FFF2-40B4-BE49-F238E27FC236}">
                <a16:creationId xmlns:a16="http://schemas.microsoft.com/office/drawing/2014/main" id="{55A4AF5F-7E78-67E8-030D-C0EEC04A4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21149">
            <a:off x="4426277" y="3459828"/>
            <a:ext cx="438601" cy="438601"/>
          </a:xfrm>
          <a:prstGeom prst="rect">
            <a:avLst/>
          </a:prstGeom>
        </p:spPr>
      </p:pic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EC09307A-C2DC-720E-8F2F-2D87C59A0117}"/>
              </a:ext>
            </a:extLst>
          </p:cNvPr>
          <p:cNvSpPr/>
          <p:nvPr/>
        </p:nvSpPr>
        <p:spPr>
          <a:xfrm>
            <a:off x="495909" y="3312675"/>
            <a:ext cx="2351238" cy="817740"/>
          </a:xfrm>
          <a:prstGeom prst="roundRect">
            <a:avLst/>
          </a:prstGeom>
          <a:noFill/>
          <a:ln>
            <a:solidFill>
              <a:srgbClr val="FA5A5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35780F3-CB77-7EDE-9A28-34A1E4DB88D6}"/>
              </a:ext>
            </a:extLst>
          </p:cNvPr>
          <p:cNvSpPr/>
          <p:nvPr/>
        </p:nvSpPr>
        <p:spPr>
          <a:xfrm>
            <a:off x="3279123" y="3312675"/>
            <a:ext cx="1143964" cy="827739"/>
          </a:xfrm>
          <a:prstGeom prst="roundRect">
            <a:avLst/>
          </a:prstGeom>
          <a:noFill/>
          <a:ln>
            <a:solidFill>
              <a:srgbClr val="FA5A5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5C29C10B-8515-B249-3892-9164733E4280}"/>
              </a:ext>
            </a:extLst>
          </p:cNvPr>
          <p:cNvSpPr/>
          <p:nvPr/>
        </p:nvSpPr>
        <p:spPr>
          <a:xfrm>
            <a:off x="4865053" y="3145277"/>
            <a:ext cx="1143964" cy="1080182"/>
          </a:xfrm>
          <a:prstGeom prst="roundRect">
            <a:avLst/>
          </a:prstGeom>
          <a:noFill/>
          <a:ln>
            <a:solidFill>
              <a:srgbClr val="FA5A5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A9EDD5-9D17-CC4E-DE86-61C240ACEF91}"/>
              </a:ext>
            </a:extLst>
          </p:cNvPr>
          <p:cNvSpPr txBox="1"/>
          <p:nvPr/>
        </p:nvSpPr>
        <p:spPr>
          <a:xfrm>
            <a:off x="3225784" y="3097469"/>
            <a:ext cx="1224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데이터 분석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8C0882-502B-9871-083B-8AF1E68751D8}"/>
              </a:ext>
            </a:extLst>
          </p:cNvPr>
          <p:cNvSpPr txBox="1"/>
          <p:nvPr/>
        </p:nvSpPr>
        <p:spPr>
          <a:xfrm>
            <a:off x="471484" y="528495"/>
            <a:ext cx="4052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2025.01.15 ~ </a:t>
            </a:r>
            <a:r>
              <a:rPr lang="ko-KR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진행중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680291-2974-AB2B-8AED-099DC39C2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137" y="5136631"/>
            <a:ext cx="2068931" cy="8848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0467E8C-5452-6BEF-561C-6234CA4023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434" y="6960336"/>
            <a:ext cx="2777072" cy="105955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D00D454-8911-F897-2BB6-0064C34C22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76" y="5140210"/>
            <a:ext cx="1454491" cy="903375"/>
          </a:xfrm>
          <a:prstGeom prst="rect">
            <a:avLst/>
          </a:prstGeom>
        </p:spPr>
      </p:pic>
      <p:pic>
        <p:nvPicPr>
          <p:cNvPr id="3074" name="Picture 2" descr="클라우드 컴퓨팅 서비스 | Google Cloud">
            <a:extLst>
              <a:ext uri="{FF2B5EF4-FFF2-40B4-BE49-F238E27FC236}">
                <a16:creationId xmlns:a16="http://schemas.microsoft.com/office/drawing/2014/main" id="{D96D6A34-5AF5-D4F9-2A2A-FD2DEA7E9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446" y="5151631"/>
            <a:ext cx="1628203" cy="85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63F496B-AAFA-3FFD-D015-2DCCD8E6977E}"/>
              </a:ext>
            </a:extLst>
          </p:cNvPr>
          <p:cNvSpPr/>
          <p:nvPr/>
        </p:nvSpPr>
        <p:spPr>
          <a:xfrm>
            <a:off x="2241799" y="5468786"/>
            <a:ext cx="497088" cy="246221"/>
          </a:xfrm>
          <a:prstGeom prst="rightArrow">
            <a:avLst/>
          </a:prstGeom>
          <a:solidFill>
            <a:srgbClr val="2D53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059BB737-05AA-FF71-D9D7-053F8CE2EE5B}"/>
              </a:ext>
            </a:extLst>
          </p:cNvPr>
          <p:cNvSpPr/>
          <p:nvPr/>
        </p:nvSpPr>
        <p:spPr>
          <a:xfrm>
            <a:off x="3662506" y="5472082"/>
            <a:ext cx="497088" cy="246221"/>
          </a:xfrm>
          <a:prstGeom prst="rightArrow">
            <a:avLst/>
          </a:prstGeom>
          <a:solidFill>
            <a:srgbClr val="2D53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B8FB01-A024-54FE-6577-9ED3FC6294EE}"/>
              </a:ext>
            </a:extLst>
          </p:cNvPr>
          <p:cNvSpPr txBox="1"/>
          <p:nvPr/>
        </p:nvSpPr>
        <p:spPr>
          <a:xfrm>
            <a:off x="2336701" y="5865421"/>
            <a:ext cx="1737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/>
              <a:t>Google data transfer API</a:t>
            </a:r>
          </a:p>
          <a:p>
            <a:pPr algn="ctr"/>
            <a:r>
              <a:rPr lang="ko-KR" altLang="en-US" sz="1000"/>
              <a:t>일정 기능 활용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CC524B-9B82-2276-C2D1-E38306B4C0B5}"/>
              </a:ext>
            </a:extLst>
          </p:cNvPr>
          <p:cNvSpPr txBox="1"/>
          <p:nvPr/>
        </p:nvSpPr>
        <p:spPr>
          <a:xfrm>
            <a:off x="519764" y="6010201"/>
            <a:ext cx="1737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/>
              <a:t>Lostark open API</a:t>
            </a:r>
            <a:endParaRPr lang="ko-KR" altLang="en-US" sz="1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CBADC3-8F2D-D0A8-EEDC-3C0BDEDC6EC0}"/>
              </a:ext>
            </a:extLst>
          </p:cNvPr>
          <p:cNvSpPr txBox="1"/>
          <p:nvPr/>
        </p:nvSpPr>
        <p:spPr>
          <a:xfrm>
            <a:off x="4333744" y="6010201"/>
            <a:ext cx="1737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/>
              <a:t>BigQuery</a:t>
            </a:r>
            <a:endParaRPr lang="ko-KR" altLang="en-US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02363F-FD3D-627D-5C31-28FCC7952A9D}"/>
              </a:ext>
            </a:extLst>
          </p:cNvPr>
          <p:cNvSpPr txBox="1"/>
          <p:nvPr/>
        </p:nvSpPr>
        <p:spPr>
          <a:xfrm>
            <a:off x="3999530" y="6930618"/>
            <a:ext cx="224753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/>
              <a:t>7</a:t>
            </a:r>
            <a:r>
              <a:rPr lang="ko-KR" altLang="en-US" sz="1000"/>
              <a:t>일 간격의 주기성</a:t>
            </a:r>
            <a:endParaRPr lang="en-US" altLang="ko-KR" sz="1000"/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업데이트</a:t>
            </a:r>
            <a:endParaRPr lang="en-US" altLang="ko-KR" sz="1000"/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주간 콘텐츠 초기화</a:t>
            </a: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외부 요인</a:t>
            </a:r>
            <a:endParaRPr lang="en-US" altLang="ko-KR" sz="1000"/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강화 재료 패키지</a:t>
            </a:r>
            <a:endParaRPr lang="en-US" altLang="ko-KR" sz="1000"/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신규 캐릭터</a:t>
            </a:r>
            <a:endParaRPr lang="en-US" altLang="ko-KR" sz="1000"/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신규 레이드 예고 </a:t>
            </a:r>
            <a:r>
              <a:rPr lang="en-US" altLang="ko-KR" sz="1000"/>
              <a:t>&amp; </a:t>
            </a:r>
            <a:r>
              <a:rPr lang="ko-KR" altLang="en-US" sz="1000"/>
              <a:t>등장</a:t>
            </a: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08C0B04A-0E06-E938-3751-BB8BD854E483}"/>
              </a:ext>
            </a:extLst>
          </p:cNvPr>
          <p:cNvSpPr txBox="1">
            <a:spLocks/>
          </p:cNvSpPr>
          <p:nvPr/>
        </p:nvSpPr>
        <p:spPr>
          <a:xfrm>
            <a:off x="470295" y="8231498"/>
            <a:ext cx="5915025" cy="156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/>
              <a:t>  향후 진행 계획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E4CC22-B360-C390-B163-B375B5A6A443}"/>
              </a:ext>
            </a:extLst>
          </p:cNvPr>
          <p:cNvSpPr txBox="1"/>
          <p:nvPr/>
        </p:nvSpPr>
        <p:spPr>
          <a:xfrm>
            <a:off x="696401" y="9423253"/>
            <a:ext cx="14885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입력값을 고려한 모델링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3DB3DC-E8E0-B5C1-B72F-56A395898342}"/>
              </a:ext>
            </a:extLst>
          </p:cNvPr>
          <p:cNvSpPr txBox="1"/>
          <p:nvPr/>
        </p:nvSpPr>
        <p:spPr>
          <a:xfrm>
            <a:off x="2796573" y="9423253"/>
            <a:ext cx="14885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대시보드 기획 및 제작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E01D7E-DA00-F836-0E90-53B4ED833F1F}"/>
              </a:ext>
            </a:extLst>
          </p:cNvPr>
          <p:cNvSpPr txBox="1"/>
          <p:nvPr/>
        </p:nvSpPr>
        <p:spPr>
          <a:xfrm>
            <a:off x="4692748" y="9423253"/>
            <a:ext cx="14885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웹 서비스 배포</a:t>
            </a:r>
          </a:p>
        </p:txBody>
      </p:sp>
      <p:pic>
        <p:nvPicPr>
          <p:cNvPr id="29" name="그래픽 28" descr="데이터베이스 단색으로 채워진">
            <a:extLst>
              <a:ext uri="{FF2B5EF4-FFF2-40B4-BE49-F238E27FC236}">
                <a16:creationId xmlns:a16="http://schemas.microsoft.com/office/drawing/2014/main" id="{4AFE4131-F4E0-6323-7B6A-498E1B0189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3487" y="8505850"/>
            <a:ext cx="914400" cy="914400"/>
          </a:xfrm>
          <a:prstGeom prst="rect">
            <a:avLst/>
          </a:prstGeom>
        </p:spPr>
      </p:pic>
      <p:pic>
        <p:nvPicPr>
          <p:cNvPr id="31" name="그래픽 30" descr="청사진 단색으로 채워진">
            <a:extLst>
              <a:ext uri="{FF2B5EF4-FFF2-40B4-BE49-F238E27FC236}">
                <a16:creationId xmlns:a16="http://schemas.microsoft.com/office/drawing/2014/main" id="{B3EEB30D-1A7D-4286-BFDF-7250C4CE4F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83659" y="8505850"/>
            <a:ext cx="914400" cy="914400"/>
          </a:xfrm>
          <a:prstGeom prst="rect">
            <a:avLst/>
          </a:prstGeom>
        </p:spPr>
      </p:pic>
      <p:pic>
        <p:nvPicPr>
          <p:cNvPr id="33" name="그래픽 32" descr="인터넷 윤곽선">
            <a:extLst>
              <a:ext uri="{FF2B5EF4-FFF2-40B4-BE49-F238E27FC236}">
                <a16:creationId xmlns:a16="http://schemas.microsoft.com/office/drawing/2014/main" id="{910965C1-6393-6A35-5BB1-0A2599544EB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79834" y="85058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86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E46A1-2034-7754-7E2D-890E3B68D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사각형: 모서리가 접힌 도형 49">
            <a:extLst>
              <a:ext uri="{FF2B5EF4-FFF2-40B4-BE49-F238E27FC236}">
                <a16:creationId xmlns:a16="http://schemas.microsoft.com/office/drawing/2014/main" id="{F41CC58C-AE42-EEFF-0E7C-B707D3A7DBBD}"/>
              </a:ext>
            </a:extLst>
          </p:cNvPr>
          <p:cNvSpPr/>
          <p:nvPr/>
        </p:nvSpPr>
        <p:spPr>
          <a:xfrm>
            <a:off x="471485" y="5035122"/>
            <a:ext cx="5834662" cy="1845369"/>
          </a:xfrm>
          <a:prstGeom prst="foldedCorner">
            <a:avLst>
              <a:gd name="adj" fmla="val 89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모서리가 접힌 도형 48">
            <a:extLst>
              <a:ext uri="{FF2B5EF4-FFF2-40B4-BE49-F238E27FC236}">
                <a16:creationId xmlns:a16="http://schemas.microsoft.com/office/drawing/2014/main" id="{64FBF476-2749-EBE2-FBD5-1043C78E12DD}"/>
              </a:ext>
            </a:extLst>
          </p:cNvPr>
          <p:cNvSpPr/>
          <p:nvPr/>
        </p:nvSpPr>
        <p:spPr>
          <a:xfrm>
            <a:off x="471486" y="2617094"/>
            <a:ext cx="5834662" cy="1968992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6AEE99-DF21-E257-2EEE-2F7176B5F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</a:t>
            </a:r>
            <a:r>
              <a:rPr lang="en-US" altLang="ko-KR" sz="2400"/>
              <a:t>. </a:t>
            </a:r>
            <a:r>
              <a:rPr lang="ko-KR" altLang="en-US" sz="2400"/>
              <a:t>공유오피스 무료체험 후 유료 전환율 개선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FF957E-F2A7-F45D-46BA-8AFF4687C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872697"/>
            <a:ext cx="5915025" cy="15180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1800"/>
              <a:t>  프로젝트 개요</a:t>
            </a:r>
            <a:endParaRPr lang="en-US" altLang="ko-KR" sz="1800"/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현황</a:t>
            </a:r>
            <a:r>
              <a:rPr lang="en-US" altLang="ko-KR" sz="1400"/>
              <a:t>: </a:t>
            </a:r>
            <a:r>
              <a:rPr lang="ko-KR" altLang="en-US"/>
              <a:t>공유오피스에서 개인 고객들의 무료 체험 후 결제 전환율이 악화되고 있음</a:t>
            </a:r>
            <a:endParaRPr lang="en-US" altLang="ko-KR" sz="1400"/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문제</a:t>
            </a:r>
            <a:r>
              <a:rPr lang="en-US" altLang="ko-KR" sz="1400"/>
              <a:t>: </a:t>
            </a:r>
            <a:r>
              <a:rPr lang="ko-KR" altLang="en-US"/>
              <a:t>개인 고객이 무료 체험 후 유료 결제로 이어지지 않는 원인 탐색</a:t>
            </a:r>
            <a:endParaRPr lang="en-US" altLang="ko-KR" sz="1400"/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목표</a:t>
            </a:r>
            <a:r>
              <a:rPr lang="en-US" altLang="ko-KR" sz="1400"/>
              <a:t>: </a:t>
            </a:r>
            <a:r>
              <a:rPr lang="ko-KR" altLang="en-US"/>
              <a:t>유료 결제 전환율을 높이는 방안 제시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28400-E908-6D46-B74E-DB26198ECC4F}"/>
              </a:ext>
            </a:extLst>
          </p:cNvPr>
          <p:cNvSpPr txBox="1"/>
          <p:nvPr/>
        </p:nvSpPr>
        <p:spPr>
          <a:xfrm>
            <a:off x="471487" y="1976236"/>
            <a:ext cx="591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800"/>
              <a:t>프로세스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6D5431-F14A-638B-62C0-82EA1D40C160}"/>
              </a:ext>
            </a:extLst>
          </p:cNvPr>
          <p:cNvSpPr/>
          <p:nvPr/>
        </p:nvSpPr>
        <p:spPr>
          <a:xfrm>
            <a:off x="471489" y="2335906"/>
            <a:ext cx="5834662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1. </a:t>
            </a:r>
            <a:r>
              <a:rPr lang="ko-KR" altLang="en-US" sz="1400">
                <a:solidFill>
                  <a:schemeClr val="tx1"/>
                </a:solidFill>
              </a:rPr>
              <a:t>문제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9A081D-F619-C6D8-32E0-E13B9E5BAB37}"/>
              </a:ext>
            </a:extLst>
          </p:cNvPr>
          <p:cNvSpPr/>
          <p:nvPr/>
        </p:nvSpPr>
        <p:spPr>
          <a:xfrm>
            <a:off x="472676" y="4742128"/>
            <a:ext cx="5834662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2. </a:t>
            </a:r>
            <a:r>
              <a:rPr lang="ko-KR" altLang="en-US" sz="1400">
                <a:solidFill>
                  <a:schemeClr val="tx1"/>
                </a:solidFill>
              </a:rPr>
              <a:t>데이터 수집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411B41-6CB0-6803-AAA1-B7C9DAF5E831}"/>
              </a:ext>
            </a:extLst>
          </p:cNvPr>
          <p:cNvSpPr txBox="1"/>
          <p:nvPr/>
        </p:nvSpPr>
        <p:spPr>
          <a:xfrm>
            <a:off x="471487" y="2695575"/>
            <a:ext cx="5834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퍼널 분석</a:t>
            </a:r>
            <a:r>
              <a:rPr lang="en-US" altLang="ko-KR" sz="1000"/>
              <a:t>: </a:t>
            </a:r>
            <a:r>
              <a:rPr lang="ko-KR" altLang="en-US" sz="1000"/>
              <a:t>코로나 엔데믹 선언 이후 무료 체험 후 결제 전환율이 악화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8CEC3D-AD1D-FE7A-08BA-3C42D271025F}"/>
              </a:ext>
            </a:extLst>
          </p:cNvPr>
          <p:cNvSpPr txBox="1"/>
          <p:nvPr/>
        </p:nvSpPr>
        <p:spPr>
          <a:xfrm>
            <a:off x="472674" y="5113603"/>
            <a:ext cx="58346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제공 받은 데이터와 외부 데이터를 종합</a:t>
            </a:r>
          </a:p>
        </p:txBody>
      </p:sp>
      <p:pic>
        <p:nvPicPr>
          <p:cNvPr id="9" name="그림 8" descr="텍스트, 스크린샷, 도표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04AF1D4-6D92-3AA8-B72C-F2B800253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52" y="2962399"/>
            <a:ext cx="2577704" cy="1288852"/>
          </a:xfrm>
          <a:prstGeom prst="rect">
            <a:avLst/>
          </a:prstGeom>
        </p:spPr>
      </p:pic>
      <p:pic>
        <p:nvPicPr>
          <p:cNvPr id="28" name="그림 27" descr="텍스트, 도표, 라인, 그래프이(가) 표시된 사진&#10;&#10;자동 생성된 설명">
            <a:extLst>
              <a:ext uri="{FF2B5EF4-FFF2-40B4-BE49-F238E27FC236}">
                <a16:creationId xmlns:a16="http://schemas.microsoft.com/office/drawing/2014/main" id="{C693C800-71B2-16D6-D36F-D8861381A5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3674"/>
          <a:stretch/>
        </p:blipFill>
        <p:spPr>
          <a:xfrm>
            <a:off x="3241656" y="3213322"/>
            <a:ext cx="2952391" cy="1014925"/>
          </a:xfrm>
          <a:prstGeom prst="rect">
            <a:avLst/>
          </a:prstGeom>
        </p:spPr>
      </p:pic>
      <p:pic>
        <p:nvPicPr>
          <p:cNvPr id="29" name="그림 28" descr="텍스트, 도표, 라인, 그래프이(가) 표시된 사진&#10;&#10;자동 생성된 설명">
            <a:extLst>
              <a:ext uri="{FF2B5EF4-FFF2-40B4-BE49-F238E27FC236}">
                <a16:creationId xmlns:a16="http://schemas.microsoft.com/office/drawing/2014/main" id="{9E04C927-BBF7-AE2E-5413-2A5D9D028B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88388" t="6254" b="63635"/>
          <a:stretch/>
        </p:blipFill>
        <p:spPr>
          <a:xfrm>
            <a:off x="5575326" y="2819212"/>
            <a:ext cx="618721" cy="476136"/>
          </a:xfrm>
          <a:prstGeom prst="rect">
            <a:avLst/>
          </a:prstGeom>
        </p:spPr>
      </p:pic>
      <p:sp>
        <p:nvSpPr>
          <p:cNvPr id="30" name="사각형: 모서리가 접힌 도형 29">
            <a:extLst>
              <a:ext uri="{FF2B5EF4-FFF2-40B4-BE49-F238E27FC236}">
                <a16:creationId xmlns:a16="http://schemas.microsoft.com/office/drawing/2014/main" id="{10AE25E8-2CD5-121A-F7D6-C0B191D185F4}"/>
              </a:ext>
            </a:extLst>
          </p:cNvPr>
          <p:cNvSpPr/>
          <p:nvPr/>
        </p:nvSpPr>
        <p:spPr>
          <a:xfrm>
            <a:off x="476569" y="7476024"/>
            <a:ext cx="5829577" cy="1845369"/>
          </a:xfrm>
          <a:prstGeom prst="foldedCorner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F18D7CF-EC43-4689-94CF-3505B5E6517B}"/>
              </a:ext>
            </a:extLst>
          </p:cNvPr>
          <p:cNvSpPr/>
          <p:nvPr/>
        </p:nvSpPr>
        <p:spPr>
          <a:xfrm>
            <a:off x="477760" y="7183030"/>
            <a:ext cx="5829577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3. </a:t>
            </a:r>
            <a:r>
              <a:rPr lang="ko-KR" altLang="en-US" sz="1400">
                <a:solidFill>
                  <a:schemeClr val="tx1"/>
                </a:solidFill>
              </a:rPr>
              <a:t>현장 답사 및 경쟁사와 비교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BFCF27-9A3A-A37D-77BA-A4FAD0E86F50}"/>
              </a:ext>
            </a:extLst>
          </p:cNvPr>
          <p:cNvSpPr txBox="1"/>
          <p:nvPr/>
        </p:nvSpPr>
        <p:spPr>
          <a:xfrm>
            <a:off x="477758" y="7554505"/>
            <a:ext cx="58295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해당 브랜드</a:t>
            </a:r>
            <a:r>
              <a:rPr lang="en-US" altLang="ko-KR" sz="1050"/>
              <a:t>(J</a:t>
            </a:r>
            <a:r>
              <a:rPr lang="ko-KR" altLang="en-US" sz="1050"/>
              <a:t>사</a:t>
            </a:r>
            <a:r>
              <a:rPr lang="en-US" altLang="ko-KR" sz="1050"/>
              <a:t>)</a:t>
            </a:r>
            <a:r>
              <a:rPr lang="ko-KR" altLang="en-US" sz="1050"/>
              <a:t>의 문제점 파악을 위해 세 지점 방문 및 경쟁사와 비교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A9DD96A8-0EBC-3DFF-0FE5-5DC7CE536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99" y="7933227"/>
            <a:ext cx="793080" cy="5948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168B0D80-8D5E-98FE-4289-A1BEED336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4682" y="7932110"/>
            <a:ext cx="793080" cy="5948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CD6DEB7-D1E4-E81B-9E50-6B0CF66FB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500" y="8684032"/>
            <a:ext cx="793080" cy="5948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7A6D541-EB06-1A42-A339-6F47B284C02C}"/>
              </a:ext>
            </a:extLst>
          </p:cNvPr>
          <p:cNvSpPr txBox="1"/>
          <p:nvPr/>
        </p:nvSpPr>
        <p:spPr>
          <a:xfrm>
            <a:off x="573508" y="7742197"/>
            <a:ext cx="7942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/>
              <a:t>A </a:t>
            </a:r>
            <a:r>
              <a:rPr lang="ko-KR" altLang="en-US" sz="1000"/>
              <a:t>지점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228288-5006-7FA7-BB0C-94FC17B7AC5B}"/>
              </a:ext>
            </a:extLst>
          </p:cNvPr>
          <p:cNvSpPr txBox="1"/>
          <p:nvPr/>
        </p:nvSpPr>
        <p:spPr>
          <a:xfrm>
            <a:off x="1443492" y="7742197"/>
            <a:ext cx="7942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/>
              <a:t>B </a:t>
            </a:r>
            <a:r>
              <a:rPr lang="ko-KR" altLang="en-US" sz="1000"/>
              <a:t>지점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C739CC-8C83-0CDF-9EB3-77E6475FF825}"/>
              </a:ext>
            </a:extLst>
          </p:cNvPr>
          <p:cNvSpPr txBox="1"/>
          <p:nvPr/>
        </p:nvSpPr>
        <p:spPr>
          <a:xfrm>
            <a:off x="1007309" y="8497236"/>
            <a:ext cx="7942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/>
              <a:t>C </a:t>
            </a:r>
            <a:r>
              <a:rPr lang="ko-KR" altLang="en-US" sz="1000"/>
              <a:t>지점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C8BA25-7867-9352-AE64-DE2D62EA74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802" y="5597882"/>
            <a:ext cx="2137373" cy="1184668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3F3529-5768-9BE3-16DC-46AE22FB9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025504"/>
              </p:ext>
            </p:extLst>
          </p:nvPr>
        </p:nvGraphicFramePr>
        <p:xfrm>
          <a:off x="3054812" y="5600669"/>
          <a:ext cx="2935832" cy="11810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612">
                  <a:extLst>
                    <a:ext uri="{9D8B030D-6E8A-4147-A177-3AD203B41FA5}">
                      <a16:colId xmlns:a16="http://schemas.microsoft.com/office/drawing/2014/main" val="425887885"/>
                    </a:ext>
                  </a:extLst>
                </a:gridCol>
                <a:gridCol w="446766">
                  <a:extLst>
                    <a:ext uri="{9D8B030D-6E8A-4147-A177-3AD203B41FA5}">
                      <a16:colId xmlns:a16="http://schemas.microsoft.com/office/drawing/2014/main" val="1660958113"/>
                    </a:ext>
                  </a:extLst>
                </a:gridCol>
                <a:gridCol w="1004236">
                  <a:extLst>
                    <a:ext uri="{9D8B030D-6E8A-4147-A177-3AD203B41FA5}">
                      <a16:colId xmlns:a16="http://schemas.microsoft.com/office/drawing/2014/main" val="790682193"/>
                    </a:ext>
                  </a:extLst>
                </a:gridCol>
                <a:gridCol w="1091218">
                  <a:extLst>
                    <a:ext uri="{9D8B030D-6E8A-4147-A177-3AD203B41FA5}">
                      <a16:colId xmlns:a16="http://schemas.microsoft.com/office/drawing/2014/main" val="379257484"/>
                    </a:ext>
                  </a:extLst>
                </a:gridCol>
              </a:tblGrid>
              <a:tr h="1770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marL="46506" marR="46506" marT="23253" marB="232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데이터명</a:t>
                      </a:r>
                    </a:p>
                  </a:txBody>
                  <a:tcPr marL="46506" marR="46506" marT="23253" marB="232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데이터 설명</a:t>
                      </a:r>
                    </a:p>
                  </a:txBody>
                  <a:tcPr marL="46506" marR="46506" marT="23253" marB="232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주요 컬럼</a:t>
                      </a:r>
                    </a:p>
                  </a:txBody>
                  <a:tcPr marL="46506" marR="46506" marT="23253" marB="232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954909"/>
                  </a:ext>
                </a:extLst>
              </a:tr>
              <a:tr h="4510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>
                          <a:latin typeface="+mn-ea"/>
                          <a:ea typeface="+mn-ea"/>
                        </a:rPr>
                        <a:t>지리</a:t>
                      </a:r>
                    </a:p>
                  </a:txBody>
                  <a:tcPr marL="46506" marR="46506" marT="23253" marB="232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>
                          <a:latin typeface="+mn-ea"/>
                          <a:ea typeface="+mn-ea"/>
                        </a:rPr>
                        <a:t>site_info</a:t>
                      </a:r>
                      <a:endParaRPr lang="ko-KR" altLang="en-US" sz="500">
                        <a:latin typeface="+mn-ea"/>
                        <a:ea typeface="+mn-ea"/>
                      </a:endParaRPr>
                    </a:p>
                  </a:txBody>
                  <a:tcPr marL="46506" marR="46506" marT="23253" marB="232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>
                          <a:latin typeface="+mn-ea"/>
                          <a:ea typeface="+mn-ea"/>
                        </a:rPr>
                        <a:t>지점별 건물 및 주요 시설 정보</a:t>
                      </a:r>
                    </a:p>
                  </a:txBody>
                  <a:tcPr marL="46506" marR="46506" marT="23253" marB="232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500">
                          <a:latin typeface="+mn-ea"/>
                          <a:ea typeface="+mn-ea"/>
                        </a:rPr>
                        <a:t>건물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층 수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최저층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최고층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500">
                          <a:latin typeface="+mn-ea"/>
                          <a:ea typeface="+mn-ea"/>
                        </a:rPr>
                        <a:t>교통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지하철역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버스정류장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500">
                          <a:latin typeface="+mn-ea"/>
                          <a:ea typeface="+mn-ea"/>
                        </a:rPr>
                        <a:t>주변 시설 수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스터디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카페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공유오피스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)</a:t>
                      </a:r>
                      <a:endParaRPr lang="ko-KR" altLang="en-US" sz="500">
                        <a:latin typeface="+mn-ea"/>
                        <a:ea typeface="+mn-ea"/>
                      </a:endParaRPr>
                    </a:p>
                  </a:txBody>
                  <a:tcPr marL="46506" marR="46506" marT="23253" marB="232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551506"/>
                  </a:ext>
                </a:extLst>
              </a:tr>
              <a:tr h="552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>
                          <a:latin typeface="+mn-ea"/>
                          <a:ea typeface="+mn-ea"/>
                        </a:rPr>
                        <a:t>사회경제</a:t>
                      </a:r>
                    </a:p>
                  </a:txBody>
                  <a:tcPr marL="46506" marR="46506" marT="23253" marB="232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>
                          <a:latin typeface="+mn-ea"/>
                          <a:ea typeface="+mn-ea"/>
                        </a:rPr>
                        <a:t>SES</a:t>
                      </a:r>
                      <a:endParaRPr lang="ko-KR" altLang="en-US" sz="500">
                        <a:latin typeface="+mn-ea"/>
                        <a:ea typeface="+mn-ea"/>
                      </a:endParaRPr>
                    </a:p>
                  </a:txBody>
                  <a:tcPr marL="46506" marR="46506" marT="23253" marB="232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>
                          <a:latin typeface="+mn-ea"/>
                          <a:ea typeface="+mn-ea"/>
                        </a:rPr>
                        <a:t>사회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코로나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경제 관련 지표</a:t>
                      </a:r>
                    </a:p>
                  </a:txBody>
                  <a:tcPr marL="46506" marR="46506" marT="23253" marB="232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500">
                          <a:latin typeface="+mn-ea"/>
                          <a:ea typeface="+mn-ea"/>
                        </a:rPr>
                        <a:t>코로나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수도권 확진자 수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거리두기 정책 단계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확진자 집계 여부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500">
                          <a:latin typeface="+mn-ea"/>
                          <a:ea typeface="+mn-ea"/>
                        </a:rPr>
                        <a:t>경제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소비자심리지수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경제성장률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기준금리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취업준비자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고용률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500">
                          <a:latin typeface="+mn-ea"/>
                          <a:ea typeface="+mn-ea"/>
                        </a:rPr>
                        <a:t>실업률</a:t>
                      </a:r>
                      <a:r>
                        <a:rPr lang="en-US" altLang="ko-KR" sz="500">
                          <a:latin typeface="+mn-ea"/>
                          <a:ea typeface="+mn-ea"/>
                        </a:rPr>
                        <a:t>)</a:t>
                      </a:r>
                      <a:endParaRPr lang="ko-KR" altLang="en-US" sz="500">
                        <a:latin typeface="+mn-ea"/>
                        <a:ea typeface="+mn-ea"/>
                      </a:endParaRPr>
                    </a:p>
                  </a:txBody>
                  <a:tcPr marL="46506" marR="46506" marT="23253" marB="232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16493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92A62E4-F031-558B-F38C-7507EA3D54E3}"/>
              </a:ext>
            </a:extLst>
          </p:cNvPr>
          <p:cNvSpPr txBox="1"/>
          <p:nvPr/>
        </p:nvSpPr>
        <p:spPr>
          <a:xfrm>
            <a:off x="785608" y="5396290"/>
            <a:ext cx="21373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내부 데이터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9DEA4-4471-FA65-8848-60F20910C21F}"/>
              </a:ext>
            </a:extLst>
          </p:cNvPr>
          <p:cNvSpPr txBox="1"/>
          <p:nvPr/>
        </p:nvSpPr>
        <p:spPr>
          <a:xfrm>
            <a:off x="3053619" y="5396290"/>
            <a:ext cx="2937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외부 데이터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B0E9077-0424-BC4B-D893-3D9D4BF75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422422"/>
              </p:ext>
            </p:extLst>
          </p:nvPr>
        </p:nvGraphicFramePr>
        <p:xfrm>
          <a:off x="2313268" y="7979818"/>
          <a:ext cx="3880779" cy="1023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7426">
                  <a:extLst>
                    <a:ext uri="{9D8B030D-6E8A-4147-A177-3AD203B41FA5}">
                      <a16:colId xmlns:a16="http://schemas.microsoft.com/office/drawing/2014/main" val="377507595"/>
                    </a:ext>
                  </a:extLst>
                </a:gridCol>
                <a:gridCol w="1100966">
                  <a:extLst>
                    <a:ext uri="{9D8B030D-6E8A-4147-A177-3AD203B41FA5}">
                      <a16:colId xmlns:a16="http://schemas.microsoft.com/office/drawing/2014/main" val="3316281720"/>
                    </a:ext>
                  </a:extLst>
                </a:gridCol>
                <a:gridCol w="1224743">
                  <a:extLst>
                    <a:ext uri="{9D8B030D-6E8A-4147-A177-3AD203B41FA5}">
                      <a16:colId xmlns:a16="http://schemas.microsoft.com/office/drawing/2014/main" val="2302443342"/>
                    </a:ext>
                  </a:extLst>
                </a:gridCol>
                <a:gridCol w="957644">
                  <a:extLst>
                    <a:ext uri="{9D8B030D-6E8A-4147-A177-3AD203B41FA5}">
                      <a16:colId xmlns:a16="http://schemas.microsoft.com/office/drawing/2014/main" val="2561119403"/>
                    </a:ext>
                  </a:extLst>
                </a:gridCol>
              </a:tblGrid>
              <a:tr h="14940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  <a:endParaRPr lang="ko-KR" sz="800" kern="1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스터디 카페</a:t>
                      </a:r>
                      <a:r>
                        <a:rPr lang="en-US" sz="80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(Z</a:t>
                      </a:r>
                      <a:r>
                        <a:rPr lang="ko-KR" sz="80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사</a:t>
                      </a:r>
                      <a:r>
                        <a:rPr lang="en-US" sz="80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800" kern="1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80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J</a:t>
                      </a:r>
                      <a:r>
                        <a:rPr lang="ko-KR" sz="80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사</a:t>
                      </a:r>
                      <a:endParaRPr lang="ko-KR" sz="800" kern="1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공유 오피스</a:t>
                      </a:r>
                      <a:r>
                        <a:rPr lang="en-US" sz="80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(F</a:t>
                      </a:r>
                      <a:r>
                        <a:rPr lang="ko-KR" sz="80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사</a:t>
                      </a:r>
                      <a:r>
                        <a:rPr lang="en-US" sz="80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800" kern="1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699155"/>
                  </a:ext>
                </a:extLst>
              </a:tr>
              <a:tr h="96621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위치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주거지역</a:t>
                      </a:r>
                      <a:r>
                        <a:rPr lang="en-US" sz="800" kern="10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학교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주거지역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업무지구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08984"/>
                  </a:ext>
                </a:extLst>
              </a:tr>
              <a:tr h="193242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주요 고객층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학생</a:t>
                      </a:r>
                      <a:r>
                        <a:rPr lang="en-US" sz="800" kern="10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취준생</a:t>
                      </a:r>
                      <a:r>
                        <a:rPr lang="en-US" sz="800" kern="100">
                          <a:effectLst/>
                          <a:latin typeface="+mn-ea"/>
                          <a:ea typeface="+mn-ea"/>
                        </a:rPr>
                        <a:t>, 1</a:t>
                      </a: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인 사업자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직장인</a:t>
                      </a:r>
                      <a:r>
                        <a:rPr lang="en-US" sz="800" kern="100">
                          <a:effectLst/>
                          <a:latin typeface="+mn-ea"/>
                          <a:ea typeface="+mn-ea"/>
                        </a:rPr>
                        <a:t>, 1</a:t>
                      </a: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인 사업자</a:t>
                      </a:r>
                      <a:r>
                        <a:rPr lang="en-US" sz="800" kern="10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취준생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직장인</a:t>
                      </a:r>
                      <a:r>
                        <a:rPr lang="en-US" sz="800" kern="100">
                          <a:effectLst/>
                          <a:latin typeface="+mn-ea"/>
                          <a:ea typeface="+mn-ea"/>
                        </a:rPr>
                        <a:t>, 1</a:t>
                      </a: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인 사업자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349203"/>
                  </a:ext>
                </a:extLst>
              </a:tr>
              <a:tr h="96621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요금제 단위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시간형</a:t>
                      </a:r>
                      <a:r>
                        <a:rPr lang="en-US" sz="800" kern="10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기간형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기간형</a:t>
                      </a:r>
                      <a:r>
                        <a:rPr lang="en-US" sz="800" kern="10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시간</a:t>
                      </a:r>
                      <a:r>
                        <a:rPr lang="en-US" sz="800" kern="100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기간형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기간형</a:t>
                      </a:r>
                      <a:r>
                        <a:rPr lang="en-US" sz="800" kern="10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횟수형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827290"/>
                  </a:ext>
                </a:extLst>
              </a:tr>
              <a:tr h="193242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8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가격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8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저렴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8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이용 패턴에 따라 다름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8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고가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775941"/>
                  </a:ext>
                </a:extLst>
              </a:tr>
              <a:tr h="96621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분위기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정숙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차분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활발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860957"/>
                  </a:ext>
                </a:extLst>
              </a:tr>
              <a:tr h="96621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네트워킹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미팅룸 별도 결제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가능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800" kern="100">
                          <a:effectLst/>
                          <a:latin typeface="+mn-ea"/>
                          <a:ea typeface="+mn-ea"/>
                        </a:rPr>
                        <a:t>가능</a:t>
                      </a:r>
                      <a:endParaRPr lang="ko-KR" sz="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274" marR="55274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76383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F078983-35B1-575A-BB5B-FFC4B6EC8E0A}"/>
              </a:ext>
            </a:extLst>
          </p:cNvPr>
          <p:cNvSpPr txBox="1"/>
          <p:nvPr/>
        </p:nvSpPr>
        <p:spPr>
          <a:xfrm>
            <a:off x="471484" y="528495"/>
            <a:ext cx="4052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2024.12.04 ~ 2024.12.16</a:t>
            </a:r>
            <a:endParaRPr lang="ko-KR" altLang="en-US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041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3FAA7-58A7-50AA-6723-AA30F651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사각형: 모서리가 접힌 도형 51">
            <a:extLst>
              <a:ext uri="{FF2B5EF4-FFF2-40B4-BE49-F238E27FC236}">
                <a16:creationId xmlns:a16="http://schemas.microsoft.com/office/drawing/2014/main" id="{6227C91C-E6AB-0B03-7C3B-A8684F8009C9}"/>
              </a:ext>
            </a:extLst>
          </p:cNvPr>
          <p:cNvSpPr/>
          <p:nvPr/>
        </p:nvSpPr>
        <p:spPr>
          <a:xfrm>
            <a:off x="471484" y="7100967"/>
            <a:ext cx="5913834" cy="2465943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모서리가 접힌 도형 48">
            <a:extLst>
              <a:ext uri="{FF2B5EF4-FFF2-40B4-BE49-F238E27FC236}">
                <a16:creationId xmlns:a16="http://schemas.microsoft.com/office/drawing/2014/main" id="{5CDCCD8D-A780-AF4C-71A3-052788D03FAF}"/>
              </a:ext>
            </a:extLst>
          </p:cNvPr>
          <p:cNvSpPr/>
          <p:nvPr/>
        </p:nvSpPr>
        <p:spPr>
          <a:xfrm>
            <a:off x="471485" y="3935874"/>
            <a:ext cx="5913835" cy="2713132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C95B7C-DA19-1B9D-37CD-522C35B1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</a:t>
            </a:r>
            <a:r>
              <a:rPr lang="en-US" altLang="ko-KR" sz="2400"/>
              <a:t>. </a:t>
            </a:r>
            <a:r>
              <a:rPr lang="ko-KR" altLang="en-US" sz="2400"/>
              <a:t>공유오피스 무료체험 후 유료 전환율 개선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1C97F3-9758-6C04-C1E2-6CF0C9C0220F}"/>
              </a:ext>
            </a:extLst>
          </p:cNvPr>
          <p:cNvSpPr txBox="1"/>
          <p:nvPr/>
        </p:nvSpPr>
        <p:spPr>
          <a:xfrm>
            <a:off x="471487" y="869951"/>
            <a:ext cx="591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800"/>
              <a:t>프로세스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CE771C-5754-4668-79E7-C3657C3C2156}"/>
              </a:ext>
            </a:extLst>
          </p:cNvPr>
          <p:cNvSpPr/>
          <p:nvPr/>
        </p:nvSpPr>
        <p:spPr>
          <a:xfrm>
            <a:off x="471488" y="3654686"/>
            <a:ext cx="5913835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5. </a:t>
            </a:r>
            <a:r>
              <a:rPr lang="ko-KR" altLang="en-US" sz="1400">
                <a:solidFill>
                  <a:schemeClr val="tx1"/>
                </a:solidFill>
              </a:rPr>
              <a:t>머신러닝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0F30A4-2824-A783-6238-7B0A6B167467}"/>
              </a:ext>
            </a:extLst>
          </p:cNvPr>
          <p:cNvSpPr/>
          <p:nvPr/>
        </p:nvSpPr>
        <p:spPr>
          <a:xfrm>
            <a:off x="471489" y="6843656"/>
            <a:ext cx="5913830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6. </a:t>
            </a:r>
            <a:r>
              <a:rPr lang="ko-KR" altLang="en-US" sz="1400">
                <a:solidFill>
                  <a:schemeClr val="tx1"/>
                </a:solidFill>
              </a:rPr>
              <a:t>후기 분석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1D6044-1682-1714-22E4-903B8F8D98A3}"/>
              </a:ext>
            </a:extLst>
          </p:cNvPr>
          <p:cNvSpPr txBox="1"/>
          <p:nvPr/>
        </p:nvSpPr>
        <p:spPr>
          <a:xfrm>
            <a:off x="471486" y="4014355"/>
            <a:ext cx="59138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유료 결제에 영향을 미치는 요인</a:t>
            </a:r>
            <a:r>
              <a:rPr lang="en-US" altLang="ko-KR" sz="1000"/>
              <a:t>: </a:t>
            </a:r>
            <a:r>
              <a:rPr lang="ko-KR" altLang="en-US" sz="1000"/>
              <a:t>이용 시간</a:t>
            </a:r>
            <a:r>
              <a:rPr lang="en-US" altLang="ko-KR" sz="1000"/>
              <a:t>, </a:t>
            </a:r>
            <a:r>
              <a:rPr lang="ko-KR" altLang="en-US" sz="1000"/>
              <a:t>시간대</a:t>
            </a:r>
            <a:r>
              <a:rPr lang="en-US" altLang="ko-KR" sz="1000"/>
              <a:t>, </a:t>
            </a:r>
            <a:r>
              <a:rPr lang="ko-KR" altLang="en-US" sz="1000"/>
              <a:t>주변 </a:t>
            </a:r>
            <a:r>
              <a:rPr lang="en-US" altLang="ko-KR" sz="1000"/>
              <a:t>(</a:t>
            </a:r>
            <a:r>
              <a:rPr lang="ko-KR" altLang="en-US" sz="1000"/>
              <a:t>스터디</a:t>
            </a:r>
            <a:r>
              <a:rPr lang="en-US" altLang="ko-KR" sz="1000"/>
              <a:t>)</a:t>
            </a:r>
            <a:r>
              <a:rPr lang="ko-KR" altLang="en-US" sz="1000"/>
              <a:t>카페 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4E20D6-E11D-E65E-D876-26CBC6A10026}"/>
              </a:ext>
            </a:extLst>
          </p:cNvPr>
          <p:cNvSpPr txBox="1"/>
          <p:nvPr/>
        </p:nvSpPr>
        <p:spPr>
          <a:xfrm>
            <a:off x="471487" y="7201763"/>
            <a:ext cx="5913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짧은 프로젝트 기간동안 효율적인 후기 분석을 위해 </a:t>
            </a:r>
            <a:r>
              <a:rPr lang="en-US" altLang="ko-KR" sz="1050"/>
              <a:t>ChatGPT </a:t>
            </a:r>
            <a:r>
              <a:rPr lang="ko-KR" altLang="en-US" sz="1050"/>
              <a:t>프롬프트를 활용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CA02B13-BAD0-C617-29FE-F279D5C61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92" y="4254819"/>
            <a:ext cx="1937851" cy="23388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29736B9-3AC4-8614-685D-C83913ED73F4}"/>
              </a:ext>
            </a:extLst>
          </p:cNvPr>
          <p:cNvSpPr txBox="1"/>
          <p:nvPr/>
        </p:nvSpPr>
        <p:spPr>
          <a:xfrm>
            <a:off x="2613660" y="4254819"/>
            <a:ext cx="35791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사용 모델</a:t>
            </a:r>
            <a:r>
              <a:rPr lang="en-US" altLang="ko-KR" sz="1000"/>
              <a:t>: RandomForest, XGB, Light</a:t>
            </a:r>
            <a:r>
              <a:rPr lang="ko-KR" altLang="en-US" sz="1000"/>
              <a:t> </a:t>
            </a:r>
            <a:r>
              <a:rPr lang="en-US" altLang="ko-KR" sz="1000"/>
              <a:t>GBM, Catboost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데이터 불균형으로 학습 데이터에 </a:t>
            </a:r>
            <a:r>
              <a:rPr lang="en-US" altLang="ko-KR" sz="1000"/>
              <a:t>SMOTENC </a:t>
            </a:r>
            <a:r>
              <a:rPr lang="ko-KR" altLang="en-US" sz="1000"/>
              <a:t>적용</a:t>
            </a: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엔데믹 이후 데이터</a:t>
            </a:r>
            <a:r>
              <a:rPr lang="en-US" altLang="ko-KR" sz="1000"/>
              <a:t>(23</a:t>
            </a:r>
            <a:r>
              <a:rPr lang="ko-KR" altLang="en-US" sz="1000"/>
              <a:t>년 </a:t>
            </a:r>
            <a:r>
              <a:rPr lang="en-US" altLang="ko-KR" sz="1000"/>
              <a:t>5</a:t>
            </a:r>
            <a:r>
              <a:rPr lang="ko-KR" altLang="en-US" sz="1000"/>
              <a:t>월 </a:t>
            </a:r>
            <a:r>
              <a:rPr lang="en-US" altLang="ko-KR" sz="1000"/>
              <a:t>~)</a:t>
            </a:r>
            <a:r>
              <a:rPr lang="ko-KR" altLang="en-US" sz="1000"/>
              <a:t>만 가지고 학습했을 때</a:t>
            </a:r>
            <a:r>
              <a:rPr lang="en-US" altLang="ko-KR" sz="1000"/>
              <a:t> RandomForest </a:t>
            </a:r>
            <a:r>
              <a:rPr lang="ko-KR" altLang="en-US" sz="1000"/>
              <a:t>모델이 가장 예측 성능이 우수함</a:t>
            </a:r>
            <a:endParaRPr lang="en-US" altLang="ko-KR" sz="1000"/>
          </a:p>
          <a:p>
            <a:endParaRPr lang="en-US" altLang="ko-KR" sz="1000"/>
          </a:p>
          <a:p>
            <a:r>
              <a:rPr lang="en-US" altLang="ko-KR" sz="1000"/>
              <a:t>SHAP value</a:t>
            </a:r>
            <a:r>
              <a:rPr lang="ko-KR" altLang="en-US" sz="1000"/>
              <a:t> 분석 결과</a:t>
            </a:r>
            <a:r>
              <a:rPr lang="en-US" altLang="ko-KR" sz="1000"/>
              <a:t>, </a:t>
            </a:r>
            <a:r>
              <a:rPr lang="ko-KR" altLang="en-US" sz="1000"/>
              <a:t>기업에서 조치할 수 있는 변인 중</a:t>
            </a: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유저의 총 이용 시간이 적을수록 유료 결제 가능성이 높음</a:t>
            </a: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출</a:t>
            </a:r>
            <a:r>
              <a:rPr lang="en-US" altLang="ko-KR" sz="1000"/>
              <a:t>(</a:t>
            </a:r>
            <a:r>
              <a:rPr lang="ko-KR" altLang="en-US" sz="1000"/>
              <a:t>퇴</a:t>
            </a:r>
            <a:r>
              <a:rPr lang="en-US" altLang="ko-KR" sz="1000"/>
              <a:t>)</a:t>
            </a:r>
            <a:r>
              <a:rPr lang="ko-KR" altLang="en-US" sz="1000"/>
              <a:t>근 시간대가 오후인 사람이 오전인 사람보다 유료 결제 가능성이 높음</a:t>
            </a: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주변에 스터디 카페와 카페가 적을수록 유료 결제 가능성이 높음</a:t>
            </a:r>
            <a:endParaRPr lang="en-US" altLang="ko-KR" sz="100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B33D834-0A7F-50BF-D85B-A3E43C42F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575619"/>
              </p:ext>
            </p:extLst>
          </p:nvPr>
        </p:nvGraphicFramePr>
        <p:xfrm>
          <a:off x="2588609" y="5874559"/>
          <a:ext cx="3324511" cy="48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7591">
                  <a:extLst>
                    <a:ext uri="{9D8B030D-6E8A-4147-A177-3AD203B41FA5}">
                      <a16:colId xmlns:a16="http://schemas.microsoft.com/office/drawing/2014/main" val="1393580169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4120761507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158661608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특징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폐점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(3</a:t>
                      </a: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곳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유지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(7</a:t>
                      </a: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곳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38809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주변 스터디 카페 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9.35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0.3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20137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96558E8-15E3-657A-445C-7F2F47BB1B19}"/>
              </a:ext>
            </a:extLst>
          </p:cNvPr>
          <p:cNvSpPr txBox="1"/>
          <p:nvPr/>
        </p:nvSpPr>
        <p:spPr>
          <a:xfrm>
            <a:off x="1352550" y="8930429"/>
            <a:ext cx="5032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00"/>
              <a:t>분위기</a:t>
            </a:r>
            <a:r>
              <a:rPr lang="en-US" altLang="ko-KR" sz="1000"/>
              <a:t>(</a:t>
            </a:r>
            <a:r>
              <a:rPr lang="ko-KR" altLang="en-US" sz="1000"/>
              <a:t>인테리어</a:t>
            </a:r>
            <a:r>
              <a:rPr lang="en-US" altLang="ko-KR" sz="1000"/>
              <a:t>), </a:t>
            </a:r>
            <a:r>
              <a:rPr lang="ko-KR" altLang="en-US" sz="1000"/>
              <a:t>시설</a:t>
            </a:r>
            <a:r>
              <a:rPr lang="en-US" altLang="ko-KR" sz="1000"/>
              <a:t>, </a:t>
            </a:r>
            <a:r>
              <a:rPr lang="ko-KR" altLang="en-US" sz="1000"/>
              <a:t>소음</a:t>
            </a:r>
            <a:r>
              <a:rPr lang="en-US" altLang="ko-KR" sz="1000"/>
              <a:t>, </a:t>
            </a:r>
            <a:r>
              <a:rPr lang="ko-KR" altLang="en-US" sz="1000"/>
              <a:t>서비스에 대한 긍정 비율이 높음</a:t>
            </a:r>
            <a:endParaRPr lang="en-US" altLang="ko-KR" sz="1000"/>
          </a:p>
          <a:p>
            <a:pPr marL="228600" indent="-228600">
              <a:buAutoNum type="arabicPeriod"/>
            </a:pPr>
            <a:r>
              <a:rPr lang="ko-KR" altLang="en-US" sz="1000"/>
              <a:t>후기들 중 </a:t>
            </a:r>
            <a:r>
              <a:rPr lang="en-US" altLang="ko-KR" sz="1000"/>
              <a:t>39%</a:t>
            </a:r>
            <a:r>
              <a:rPr lang="ko-KR" altLang="en-US" sz="1000"/>
              <a:t>가 유료 결제 의사가 있으며</a:t>
            </a:r>
            <a:r>
              <a:rPr lang="en-US" altLang="ko-KR" sz="1000"/>
              <a:t>, 10%</a:t>
            </a:r>
            <a:r>
              <a:rPr lang="ko-KR" altLang="en-US" sz="1000"/>
              <a:t>는 유료 결제 의사가 없었음</a:t>
            </a:r>
            <a:endParaRPr lang="en-US" altLang="ko-KR" sz="1000"/>
          </a:p>
          <a:p>
            <a:pPr marL="228600" indent="-228600">
              <a:buAutoNum type="arabicPeriod"/>
            </a:pPr>
            <a:r>
              <a:rPr lang="ko-KR" altLang="en-US" sz="1000"/>
              <a:t>소음이 허용되는 수준</a:t>
            </a:r>
            <a:r>
              <a:rPr lang="en-US" altLang="ko-KR" sz="1000"/>
              <a:t>: </a:t>
            </a:r>
            <a:r>
              <a:rPr lang="ko-KR" altLang="en-US" sz="1000"/>
              <a:t>스터디 카페 </a:t>
            </a:r>
            <a:r>
              <a:rPr lang="en-US" altLang="ko-KR" sz="1000"/>
              <a:t>&lt; J</a:t>
            </a:r>
            <a:r>
              <a:rPr lang="ko-KR" altLang="en-US" sz="1000"/>
              <a:t>사 </a:t>
            </a:r>
            <a:r>
              <a:rPr lang="en-US" altLang="ko-KR" sz="1000"/>
              <a:t>&lt; </a:t>
            </a:r>
            <a:r>
              <a:rPr lang="ko-KR" altLang="en-US" sz="1000"/>
              <a:t>카페</a:t>
            </a:r>
            <a:endParaRPr lang="en-US" altLang="ko-KR" sz="1000"/>
          </a:p>
        </p:txBody>
      </p:sp>
      <p:sp>
        <p:nvSpPr>
          <p:cNvPr id="12" name="사각형: 모서리가 접힌 도형 11">
            <a:extLst>
              <a:ext uri="{FF2B5EF4-FFF2-40B4-BE49-F238E27FC236}">
                <a16:creationId xmlns:a16="http://schemas.microsoft.com/office/drawing/2014/main" id="{635CA862-F7C5-FFC3-AA17-FBEE282A73D0}"/>
              </a:ext>
            </a:extLst>
          </p:cNvPr>
          <p:cNvSpPr/>
          <p:nvPr/>
        </p:nvSpPr>
        <p:spPr>
          <a:xfrm>
            <a:off x="471486" y="1470891"/>
            <a:ext cx="5834662" cy="1968992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C039D84-5127-1208-BFF5-E894E15F9B72}"/>
              </a:ext>
            </a:extLst>
          </p:cNvPr>
          <p:cNvSpPr/>
          <p:nvPr/>
        </p:nvSpPr>
        <p:spPr>
          <a:xfrm>
            <a:off x="471489" y="1189703"/>
            <a:ext cx="5834662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4. EDA + Data readiness check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84AE64-F8D1-1A3D-C3AB-13F7EBF8A51D}"/>
              </a:ext>
            </a:extLst>
          </p:cNvPr>
          <p:cNvSpPr txBox="1"/>
          <p:nvPr/>
        </p:nvSpPr>
        <p:spPr>
          <a:xfrm>
            <a:off x="471487" y="1549372"/>
            <a:ext cx="5834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활동 시간 등 파생 변수를 만들어 유저들의 행동 파악</a:t>
            </a:r>
          </a:p>
        </p:txBody>
      </p:sp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A3830AD3-F785-58D6-58F7-2217E25EA7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8171252"/>
              </p:ext>
            </p:extLst>
          </p:nvPr>
        </p:nvGraphicFramePr>
        <p:xfrm>
          <a:off x="471481" y="1749714"/>
          <a:ext cx="2535254" cy="1690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58561FE-9154-1BD2-1E21-75AD17F0D33C}"/>
              </a:ext>
            </a:extLst>
          </p:cNvPr>
          <p:cNvSpPr txBox="1"/>
          <p:nvPr/>
        </p:nvSpPr>
        <p:spPr>
          <a:xfrm>
            <a:off x="2941264" y="2120582"/>
            <a:ext cx="3251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오후</a:t>
            </a:r>
            <a:r>
              <a:rPr lang="en-US" altLang="ko-KR" sz="1000"/>
              <a:t>(12</a:t>
            </a:r>
            <a:r>
              <a:rPr lang="ko-KR" altLang="en-US" sz="1000"/>
              <a:t>시 </a:t>
            </a:r>
            <a:r>
              <a:rPr lang="en-US" altLang="ko-KR" sz="1000"/>
              <a:t>~ 7</a:t>
            </a:r>
            <a:r>
              <a:rPr lang="ko-KR" altLang="en-US" sz="1000"/>
              <a:t>시</a:t>
            </a:r>
            <a:r>
              <a:rPr lang="en-US" altLang="ko-KR" sz="1000"/>
              <a:t>) </a:t>
            </a:r>
            <a:r>
              <a:rPr lang="ko-KR" altLang="en-US" sz="1000"/>
              <a:t>사이에 활동하는 경우가 가장 많았음</a:t>
            </a:r>
            <a:endParaRPr lang="en-US" altLang="ko-KR" sz="1000"/>
          </a:p>
          <a:p>
            <a:r>
              <a:rPr lang="ko-KR" altLang="en-US" sz="1000"/>
              <a:t>엔데믹 선언 이후 왕십리점의 유료 전환율이 증가함</a:t>
            </a:r>
            <a:endParaRPr lang="en-US" altLang="ko-KR" sz="100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384FF1E-9C75-3567-E88F-2D8E073CEA96}"/>
              </a:ext>
            </a:extLst>
          </p:cNvPr>
          <p:cNvSpPr/>
          <p:nvPr/>
        </p:nvSpPr>
        <p:spPr>
          <a:xfrm>
            <a:off x="574832" y="7799070"/>
            <a:ext cx="2034416" cy="10527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0" name="Picture 6" descr="자동화툴 'selenium'을 이용한 크롤러 구현 및 3사 데이터 획득 방법 안내 - BizSpring BLOG">
            <a:extLst>
              <a:ext uri="{FF2B5EF4-FFF2-40B4-BE49-F238E27FC236}">
                <a16:creationId xmlns:a16="http://schemas.microsoft.com/office/drawing/2014/main" id="{7BDB57D3-EFE9-C8F5-3996-E90EE81B29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8" t="20600" r="75000" b="20508"/>
          <a:stretch/>
        </p:blipFill>
        <p:spPr bwMode="auto">
          <a:xfrm>
            <a:off x="1220996" y="7918672"/>
            <a:ext cx="388359" cy="41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네이버 - NAVER - Google Play 앱">
            <a:extLst>
              <a:ext uri="{FF2B5EF4-FFF2-40B4-BE49-F238E27FC236}">
                <a16:creationId xmlns:a16="http://schemas.microsoft.com/office/drawing/2014/main" id="{32C82A88-450F-EE08-B1B7-B727E7F3D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297" b="97266" l="1563" r="98633">
                        <a14:foregroundMark x1="43555" y1="14453" x2="84766" y2="20313"/>
                        <a14:foregroundMark x1="21094" y1="18750" x2="11133" y2="81836"/>
                        <a14:foregroundMark x1="11133" y1="81836" x2="57031" y2="90430"/>
                        <a14:foregroundMark x1="57031" y1="90430" x2="96094" y2="69141"/>
                        <a14:foregroundMark x1="96094" y1="69141" x2="95313" y2="19531"/>
                        <a14:foregroundMark x1="95313" y1="19531" x2="17383" y2="18750"/>
                        <a14:foregroundMark x1="64453" y1="12305" x2="98633" y2="36914"/>
                        <a14:foregroundMark x1="32617" y1="11523" x2="32617" y2="11523"/>
                        <a14:foregroundMark x1="76758" y1="11523" x2="39844" y2="12305"/>
                        <a14:foregroundMark x1="39844" y1="12305" x2="39844" y2="12305"/>
                        <a14:foregroundMark x1="25391" y1="6445" x2="8008" y2="47852"/>
                        <a14:foregroundMark x1="8008" y1="47852" x2="8008" y2="47852"/>
                        <a14:foregroundMark x1="8008" y1="14453" x2="10156" y2="53711"/>
                        <a14:foregroundMark x1="95898" y1="73633" x2="53906" y2="93555"/>
                        <a14:foregroundMark x1="53906" y1="93555" x2="12695" y2="85742"/>
                        <a14:foregroundMark x1="12695" y1="85742" x2="2539" y2="33203"/>
                        <a14:foregroundMark x1="2539" y1="33203" x2="54492" y2="5469"/>
                        <a14:foregroundMark x1="54492" y1="5469" x2="91602" y2="18750"/>
                        <a14:foregroundMark x1="91602" y1="18750" x2="94141" y2="23438"/>
                        <a14:foregroundMark x1="51172" y1="33008" x2="48633" y2="69336"/>
                        <a14:foregroundMark x1="48633" y1="69336" x2="72070" y2="33984"/>
                        <a14:foregroundMark x1="85547" y1="45117" x2="22266" y2="73828"/>
                        <a14:foregroundMark x1="22266" y1="73828" x2="22266" y2="74219"/>
                        <a14:foregroundMark x1="94531" y1="63086" x2="33594" y2="80273"/>
                        <a14:foregroundMark x1="15625" y1="9180" x2="91016" y2="8789"/>
                        <a14:foregroundMark x1="91016" y1="8789" x2="97266" y2="24609"/>
                        <a14:foregroundMark x1="72266" y1="4492" x2="21484" y2="8789"/>
                        <a14:foregroundMark x1="76758" y1="2734" x2="23438" y2="3711"/>
                        <a14:foregroundMark x1="23438" y1="3711" x2="1563" y2="41406"/>
                        <a14:foregroundMark x1="1563" y1="41406" x2="1758" y2="59961"/>
                        <a14:foregroundMark x1="5273" y1="78906" x2="58594" y2="91016"/>
                        <a14:foregroundMark x1="58594" y1="91016" x2="95117" y2="75586"/>
                        <a14:foregroundMark x1="95117" y1="75586" x2="96680" y2="72461"/>
                        <a14:foregroundMark x1="88477" y1="88477" x2="45313" y2="98047"/>
                        <a14:foregroundMark x1="45313" y1="98047" x2="10352" y2="81641"/>
                        <a14:foregroundMark x1="10352" y1="81641" x2="44531" y2="67969"/>
                        <a14:foregroundMark x1="44531" y1="67969" x2="89453" y2="72266"/>
                        <a14:foregroundMark x1="89453" y1="72266" x2="58398" y2="98828"/>
                        <a14:foregroundMark x1="58398" y1="98828" x2="19727" y2="97266"/>
                        <a14:foregroundMark x1="19727" y1="97266" x2="2344" y2="77539"/>
                        <a14:backgroundMark x1="1953" y1="92578" x2="5273" y2="982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62" y="7930738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eautiful Soup: Introduction to web scraping with Python">
            <a:extLst>
              <a:ext uri="{FF2B5EF4-FFF2-40B4-BE49-F238E27FC236}">
                <a16:creationId xmlns:a16="http://schemas.microsoft.com/office/drawing/2014/main" id="{E40CA345-5672-1CB4-229A-78FEE131F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39" y="7977554"/>
            <a:ext cx="765120" cy="32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5B0C3FC-8B36-9623-4BEC-D0552F7B3A8E}"/>
              </a:ext>
            </a:extLst>
          </p:cNvPr>
          <p:cNvSpPr txBox="1"/>
          <p:nvPr/>
        </p:nvSpPr>
        <p:spPr>
          <a:xfrm>
            <a:off x="574831" y="7532370"/>
            <a:ext cx="2034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무료체험 후기 수집</a:t>
            </a:r>
            <a:r>
              <a:rPr lang="en-US" altLang="ko-KR" sz="1000"/>
              <a:t>(97</a:t>
            </a:r>
            <a:r>
              <a:rPr lang="ko-KR" altLang="en-US" sz="1000"/>
              <a:t>건</a:t>
            </a:r>
            <a:r>
              <a:rPr lang="en-US" altLang="ko-KR" sz="1000"/>
              <a:t>)</a:t>
            </a:r>
            <a:endParaRPr lang="ko-KR" altLang="en-US" sz="10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832D3D9-54DC-A437-D97B-6AA503DE0F66}"/>
              </a:ext>
            </a:extLst>
          </p:cNvPr>
          <p:cNvSpPr/>
          <p:nvPr/>
        </p:nvSpPr>
        <p:spPr>
          <a:xfrm>
            <a:off x="2746411" y="7799070"/>
            <a:ext cx="3532864" cy="10527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F819A5-2CE4-99ED-891B-46611259A5E6}"/>
              </a:ext>
            </a:extLst>
          </p:cNvPr>
          <p:cNvSpPr txBox="1"/>
          <p:nvPr/>
        </p:nvSpPr>
        <p:spPr>
          <a:xfrm>
            <a:off x="2746410" y="7532370"/>
            <a:ext cx="3532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/>
              <a:t>ChatGPT </a:t>
            </a:r>
            <a:r>
              <a:rPr lang="ko-KR" altLang="en-US" sz="1000"/>
              <a:t>프롬프트 분석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8D4FFE-4EF1-141F-DBE1-7D9B0A4FD119}"/>
              </a:ext>
            </a:extLst>
          </p:cNvPr>
          <p:cNvSpPr txBox="1"/>
          <p:nvPr/>
        </p:nvSpPr>
        <p:spPr>
          <a:xfrm>
            <a:off x="578725" y="8417891"/>
            <a:ext cx="2198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네이버 </a:t>
            </a:r>
            <a:r>
              <a:rPr lang="en-US" altLang="ko-KR" sz="1000"/>
              <a:t>api:</a:t>
            </a:r>
            <a:r>
              <a:rPr lang="ko-KR" altLang="en-US" sz="1000"/>
              <a:t> 무료체험 후기 블로그 수집</a:t>
            </a:r>
            <a:endParaRPr lang="en-US" altLang="ko-KR" sz="1000"/>
          </a:p>
          <a:p>
            <a:r>
              <a:rPr lang="en-US" altLang="ko-KR" sz="1000"/>
              <a:t>selenium</a:t>
            </a:r>
            <a:r>
              <a:rPr lang="ko-KR" altLang="en-US" sz="1000"/>
              <a:t>과 </a:t>
            </a:r>
            <a:r>
              <a:rPr lang="en-US" altLang="ko-KR" sz="1000"/>
              <a:t>bs4: </a:t>
            </a:r>
            <a:r>
              <a:rPr lang="ko-KR" altLang="en-US" sz="1000"/>
              <a:t>본문 추출</a:t>
            </a:r>
          </a:p>
        </p:txBody>
      </p:sp>
      <p:pic>
        <p:nvPicPr>
          <p:cNvPr id="31" name="그림 30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5A0180AD-9170-6482-932D-B7C171C124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6227" y="7850965"/>
            <a:ext cx="810210" cy="94277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845C826-1494-E7F3-B6C8-EDC170B31F89}"/>
              </a:ext>
            </a:extLst>
          </p:cNvPr>
          <p:cNvSpPr txBox="1"/>
          <p:nvPr/>
        </p:nvSpPr>
        <p:spPr>
          <a:xfrm>
            <a:off x="3782856" y="7850677"/>
            <a:ext cx="241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분석 내용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감성 분석</a:t>
            </a:r>
            <a:r>
              <a:rPr lang="en-US" altLang="ko-KR" sz="900"/>
              <a:t>, </a:t>
            </a:r>
            <a:r>
              <a:rPr lang="ko-KR" altLang="en-US" sz="900"/>
              <a:t>결제의사 분류</a:t>
            </a:r>
            <a:r>
              <a:rPr lang="en-US" altLang="ko-KR" sz="900"/>
              <a:t>, </a:t>
            </a:r>
            <a:r>
              <a:rPr lang="ko-KR" altLang="en-US" sz="900"/>
              <a:t>경쟁사와 비교</a:t>
            </a:r>
            <a:endParaRPr lang="en-US" altLang="ko-KR" sz="900"/>
          </a:p>
          <a:p>
            <a:endParaRPr lang="en-US" altLang="ko-KR" sz="300"/>
          </a:p>
          <a:p>
            <a:r>
              <a:rPr lang="ko-KR" altLang="en-US" sz="1000"/>
              <a:t>유의사항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/>
              <a:t>GPT</a:t>
            </a:r>
            <a:r>
              <a:rPr lang="ko-KR" altLang="en-US" sz="900"/>
              <a:t>의 연산 능력을 활용하도록 유도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결과를 보여줄 때 판단 근거도 함께 표시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/>
              <a:t>GPT </a:t>
            </a:r>
            <a:r>
              <a:rPr lang="ko-KR" altLang="en-US" sz="900"/>
              <a:t>분석 결과와 실제 후기를 비교하며 검토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93465F-C4D1-C7BE-6419-D18C330000A8}"/>
              </a:ext>
            </a:extLst>
          </p:cNvPr>
          <p:cNvSpPr txBox="1"/>
          <p:nvPr/>
        </p:nvSpPr>
        <p:spPr>
          <a:xfrm>
            <a:off x="471484" y="528495"/>
            <a:ext cx="4052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2024.12.04 ~ 2024.12.16</a:t>
            </a:r>
            <a:endParaRPr lang="ko-KR" altLang="en-US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008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A4BDA-9365-D891-C98E-B6001284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모서리가 접힌 도형 48">
            <a:extLst>
              <a:ext uri="{FF2B5EF4-FFF2-40B4-BE49-F238E27FC236}">
                <a16:creationId xmlns:a16="http://schemas.microsoft.com/office/drawing/2014/main" id="{AF1BEAE3-6FDE-2EA4-596A-9AA1AEBA7431}"/>
              </a:ext>
            </a:extLst>
          </p:cNvPr>
          <p:cNvSpPr/>
          <p:nvPr/>
        </p:nvSpPr>
        <p:spPr>
          <a:xfrm>
            <a:off x="471485" y="1510809"/>
            <a:ext cx="5913835" cy="2713132"/>
          </a:xfrm>
          <a:prstGeom prst="foldedCorner">
            <a:avLst>
              <a:gd name="adj" fmla="val 1017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426E5B-7201-9566-479E-14E4D042C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</a:t>
            </a:r>
            <a:r>
              <a:rPr lang="en-US" altLang="ko-KR" sz="2400"/>
              <a:t>. </a:t>
            </a:r>
            <a:r>
              <a:rPr lang="ko-KR" altLang="en-US" sz="2400"/>
              <a:t>공유오피스 무료체험 후 유료 전환율 개선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4687F-A053-6F4B-169A-1FC12A432F08}"/>
              </a:ext>
            </a:extLst>
          </p:cNvPr>
          <p:cNvSpPr txBox="1"/>
          <p:nvPr/>
        </p:nvSpPr>
        <p:spPr>
          <a:xfrm>
            <a:off x="471487" y="869951"/>
            <a:ext cx="591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800"/>
              <a:t>프로세스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D4266-0702-A8B3-5CFE-E5CF6DD46A73}"/>
              </a:ext>
            </a:extLst>
          </p:cNvPr>
          <p:cNvSpPr txBox="1"/>
          <p:nvPr/>
        </p:nvSpPr>
        <p:spPr>
          <a:xfrm>
            <a:off x="471487" y="4367564"/>
            <a:ext cx="591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/>
              <a:t>액션 플랜</a:t>
            </a:r>
            <a:endParaRPr lang="en-US" altLang="ko-KR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18BDBB-86F1-8E50-86BD-3911E992906D}"/>
              </a:ext>
            </a:extLst>
          </p:cNvPr>
          <p:cNvSpPr/>
          <p:nvPr/>
        </p:nvSpPr>
        <p:spPr>
          <a:xfrm>
            <a:off x="471488" y="1229621"/>
            <a:ext cx="5913835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7. </a:t>
            </a:r>
            <a:r>
              <a:rPr lang="ko-KR" altLang="en-US" sz="1400">
                <a:solidFill>
                  <a:schemeClr val="tx1"/>
                </a:solidFill>
              </a:rPr>
              <a:t>인사이트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B75920-7A31-18D0-F6E6-60B2F9443EF8}"/>
              </a:ext>
            </a:extLst>
          </p:cNvPr>
          <p:cNvSpPr txBox="1"/>
          <p:nvPr/>
        </p:nvSpPr>
        <p:spPr>
          <a:xfrm>
            <a:off x="471486" y="1589290"/>
            <a:ext cx="59138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개인 고객 입장에서 </a:t>
            </a:r>
            <a:r>
              <a:rPr lang="en-US" altLang="ko-KR" sz="1000"/>
              <a:t>J</a:t>
            </a:r>
            <a:r>
              <a:rPr lang="ko-KR" altLang="en-US" sz="1000"/>
              <a:t>사는 공유오피스보다 스터디 카페의 포지션에 해당</a:t>
            </a:r>
          </a:p>
        </p:txBody>
      </p:sp>
      <p:pic>
        <p:nvPicPr>
          <p:cNvPr id="9" name="그림 8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1370BB45-E1A4-9171-92BA-8686D114F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915" y="1871652"/>
            <a:ext cx="3774170" cy="4129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31CD7E-3D44-1252-D114-6E6B6370D3F9}"/>
              </a:ext>
            </a:extLst>
          </p:cNvPr>
          <p:cNvSpPr txBox="1"/>
          <p:nvPr/>
        </p:nvSpPr>
        <p:spPr>
          <a:xfrm>
            <a:off x="1403896" y="3879825"/>
            <a:ext cx="40502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>
                <a:latin typeface="+mj-ea"/>
                <a:ea typeface="+mj-ea"/>
              </a:rPr>
              <a:t>개인 고객에게 </a:t>
            </a:r>
            <a:r>
              <a:rPr lang="en-US" altLang="ko-KR" sz="1000">
                <a:latin typeface="+mj-ea"/>
                <a:ea typeface="+mj-ea"/>
              </a:rPr>
              <a:t>‘</a:t>
            </a:r>
            <a:r>
              <a:rPr lang="ko-KR" altLang="en-US" sz="1000">
                <a:latin typeface="+mj-ea"/>
                <a:ea typeface="+mj-ea"/>
              </a:rPr>
              <a:t>공유오피스</a:t>
            </a:r>
            <a:r>
              <a:rPr lang="en-US" altLang="ko-KR" sz="1000">
                <a:latin typeface="+mj-ea"/>
                <a:ea typeface="+mj-ea"/>
              </a:rPr>
              <a:t>’</a:t>
            </a:r>
            <a:r>
              <a:rPr lang="ko-KR" altLang="en-US" sz="1000">
                <a:latin typeface="+mj-ea"/>
                <a:ea typeface="+mj-ea"/>
              </a:rPr>
              <a:t>보다 </a:t>
            </a:r>
            <a:r>
              <a:rPr lang="en-US" altLang="ko-KR" sz="1000">
                <a:latin typeface="+mj-ea"/>
                <a:ea typeface="+mj-ea"/>
              </a:rPr>
              <a:t>‘</a:t>
            </a:r>
            <a:r>
              <a:rPr lang="ko-KR" altLang="en-US" sz="1000">
                <a:latin typeface="+mj-ea"/>
                <a:ea typeface="+mj-ea"/>
              </a:rPr>
              <a:t>프리미엄 스터디 카페</a:t>
            </a:r>
            <a:r>
              <a:rPr lang="en-US" altLang="ko-KR" sz="1000">
                <a:latin typeface="+mj-ea"/>
                <a:ea typeface="+mj-ea"/>
              </a:rPr>
              <a:t>’</a:t>
            </a:r>
            <a:r>
              <a:rPr lang="ko-KR" altLang="en-US" sz="1000">
                <a:latin typeface="+mj-ea"/>
                <a:ea typeface="+mj-ea"/>
              </a:rPr>
              <a:t>로 어필</a:t>
            </a:r>
            <a:endParaRPr lang="en-US" altLang="ko-KR" sz="1000">
              <a:latin typeface="+mj-ea"/>
              <a:ea typeface="+mj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F64FCAF-CE41-90BC-15E7-D5A609251778}"/>
              </a:ext>
            </a:extLst>
          </p:cNvPr>
          <p:cNvSpPr/>
          <p:nvPr/>
        </p:nvSpPr>
        <p:spPr>
          <a:xfrm>
            <a:off x="521793" y="2589021"/>
            <a:ext cx="2833687" cy="1176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07E0F0-18CD-61EE-1182-1C2E0E1FFD1F}"/>
              </a:ext>
            </a:extLst>
          </p:cNvPr>
          <p:cNvSpPr/>
          <p:nvPr/>
        </p:nvSpPr>
        <p:spPr>
          <a:xfrm>
            <a:off x="3502521" y="2598546"/>
            <a:ext cx="2833687" cy="1176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26F4F5-CEC9-D464-CCDC-A1ABCF45CE8A}"/>
              </a:ext>
            </a:extLst>
          </p:cNvPr>
          <p:cNvSpPr txBox="1"/>
          <p:nvPr/>
        </p:nvSpPr>
        <p:spPr>
          <a:xfrm>
            <a:off x="3502520" y="2698419"/>
            <a:ext cx="283368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이용시간이 길어질수록 메리트가 떨어지는 요금제</a:t>
            </a: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좌석에 대한 선호도</a:t>
            </a:r>
            <a:endParaRPr lang="en-US" altLang="ko-KR" sz="10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현장 답사</a:t>
            </a:r>
            <a:r>
              <a:rPr lang="en-US" altLang="ko-KR" sz="1000"/>
              <a:t>: </a:t>
            </a:r>
            <a:r>
              <a:rPr lang="ko-KR" altLang="en-US" sz="1000"/>
              <a:t>몰입형 공간</a:t>
            </a:r>
            <a:endParaRPr lang="en-US" altLang="ko-KR" sz="10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후기 분석</a:t>
            </a:r>
            <a:r>
              <a:rPr lang="en-US" altLang="ko-KR" sz="1000"/>
              <a:t>: </a:t>
            </a:r>
            <a:r>
              <a:rPr lang="ko-KR" altLang="en-US" sz="1000"/>
              <a:t>하이브리드형 공간</a:t>
            </a:r>
            <a:endParaRPr lang="en-US" altLang="ko-KR" sz="100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2C6EF61-4286-EAE8-F7DA-BF7B2CF08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646881"/>
              </p:ext>
            </p:extLst>
          </p:nvPr>
        </p:nvGraphicFramePr>
        <p:xfrm>
          <a:off x="740828" y="3186796"/>
          <a:ext cx="2395615" cy="49931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79070">
                  <a:extLst>
                    <a:ext uri="{9D8B030D-6E8A-4147-A177-3AD203B41FA5}">
                      <a16:colId xmlns:a16="http://schemas.microsoft.com/office/drawing/2014/main" val="2456966748"/>
                    </a:ext>
                  </a:extLst>
                </a:gridCol>
                <a:gridCol w="479070">
                  <a:extLst>
                    <a:ext uri="{9D8B030D-6E8A-4147-A177-3AD203B41FA5}">
                      <a16:colId xmlns:a16="http://schemas.microsoft.com/office/drawing/2014/main" val="3798978607"/>
                    </a:ext>
                  </a:extLst>
                </a:gridCol>
                <a:gridCol w="479070">
                  <a:extLst>
                    <a:ext uri="{9D8B030D-6E8A-4147-A177-3AD203B41FA5}">
                      <a16:colId xmlns:a16="http://schemas.microsoft.com/office/drawing/2014/main" val="2518065299"/>
                    </a:ext>
                  </a:extLst>
                </a:gridCol>
                <a:gridCol w="479070">
                  <a:extLst>
                    <a:ext uri="{9D8B030D-6E8A-4147-A177-3AD203B41FA5}">
                      <a16:colId xmlns:a16="http://schemas.microsoft.com/office/drawing/2014/main" val="96111755"/>
                    </a:ext>
                  </a:extLst>
                </a:gridCol>
                <a:gridCol w="479335">
                  <a:extLst>
                    <a:ext uri="{9D8B030D-6E8A-4147-A177-3AD203B41FA5}">
                      <a16:colId xmlns:a16="http://schemas.microsoft.com/office/drawing/2014/main" val="2267226590"/>
                    </a:ext>
                  </a:extLst>
                </a:gridCol>
              </a:tblGrid>
              <a:tr h="24965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900" b="0" kern="1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900" b="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r>
                        <a:rPr lang="ko-KR" sz="900" b="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사</a:t>
                      </a:r>
                      <a:endParaRPr lang="ko-KR" sz="900" b="0" kern="1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900" b="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  <a:r>
                        <a:rPr lang="ko-KR" sz="900" b="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사</a:t>
                      </a:r>
                      <a:endParaRPr lang="ko-KR" sz="900" b="0" kern="1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900" b="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W</a:t>
                      </a:r>
                      <a:r>
                        <a:rPr lang="ko-KR" sz="900" b="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사</a:t>
                      </a:r>
                      <a:endParaRPr lang="ko-KR" sz="900" b="0" kern="1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900" b="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J</a:t>
                      </a:r>
                      <a:r>
                        <a:rPr lang="ko-KR" sz="900" b="0" kern="1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사</a:t>
                      </a:r>
                      <a:endParaRPr lang="ko-KR" sz="900" b="0" kern="1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554898"/>
                  </a:ext>
                </a:extLst>
              </a:tr>
              <a:tr h="24965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900" b="0" kern="100">
                          <a:effectLst/>
                          <a:latin typeface="+mn-ea"/>
                          <a:ea typeface="+mn-ea"/>
                        </a:rPr>
                        <a:t>지점 수</a:t>
                      </a:r>
                      <a:endParaRPr lang="ko-KR" sz="900" b="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900" b="0" kern="100">
                          <a:effectLst/>
                          <a:latin typeface="+mn-ea"/>
                          <a:ea typeface="+mn-ea"/>
                        </a:rPr>
                        <a:t>131</a:t>
                      </a:r>
                      <a:endParaRPr lang="ko-KR" sz="900" b="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900" b="0" kern="100">
                          <a:effectLst/>
                          <a:latin typeface="+mn-ea"/>
                          <a:ea typeface="+mn-ea"/>
                        </a:rPr>
                        <a:t>34</a:t>
                      </a:r>
                      <a:endParaRPr lang="ko-KR" sz="900" b="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900" b="0" kern="100">
                          <a:effectLst/>
                          <a:latin typeface="+mn-ea"/>
                          <a:ea typeface="+mn-ea"/>
                        </a:rPr>
                        <a:t>19</a:t>
                      </a:r>
                      <a:endParaRPr lang="ko-KR" sz="900" b="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900" b="0" kern="100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900" b="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37673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DE389B3-611F-073D-8DAE-5EFB753CE88D}"/>
              </a:ext>
            </a:extLst>
          </p:cNvPr>
          <p:cNvSpPr txBox="1"/>
          <p:nvPr/>
        </p:nvSpPr>
        <p:spPr>
          <a:xfrm>
            <a:off x="521793" y="2659079"/>
            <a:ext cx="28336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엔데믹 후 개인 고객의 선택지가 다양해짐</a:t>
            </a:r>
            <a:endParaRPr lang="en-US" altLang="ko-KR" sz="10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900"/>
              <a:t>카페</a:t>
            </a:r>
            <a:r>
              <a:rPr lang="en-US" altLang="ko-KR" sz="900"/>
              <a:t>, </a:t>
            </a:r>
            <a:r>
              <a:rPr lang="ko-KR" altLang="en-US" sz="900"/>
              <a:t>스터디카페와 경쟁</a:t>
            </a:r>
            <a:endParaRPr lang="en-US" altLang="ko-KR" sz="9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매우 낮은 공유오피스 시장 점유율</a:t>
            </a:r>
            <a:endParaRPr lang="en-US" altLang="ko-KR" sz="10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AC26F0-0D9B-9826-8434-B4C327354104}"/>
              </a:ext>
            </a:extLst>
          </p:cNvPr>
          <p:cNvSpPr/>
          <p:nvPr/>
        </p:nvSpPr>
        <p:spPr>
          <a:xfrm>
            <a:off x="521792" y="2422477"/>
            <a:ext cx="2833687" cy="166544"/>
          </a:xfrm>
          <a:prstGeom prst="rect">
            <a:avLst/>
          </a:prstGeom>
          <a:solidFill>
            <a:srgbClr val="804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시장 상황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0BEFCD6-667E-9B0C-11AE-8ED9BBB08833}"/>
              </a:ext>
            </a:extLst>
          </p:cNvPr>
          <p:cNvSpPr/>
          <p:nvPr/>
        </p:nvSpPr>
        <p:spPr>
          <a:xfrm>
            <a:off x="3502520" y="2422477"/>
            <a:ext cx="2833687" cy="166544"/>
          </a:xfrm>
          <a:prstGeom prst="rect">
            <a:avLst/>
          </a:prstGeom>
          <a:solidFill>
            <a:srgbClr val="804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내부 개선점</a:t>
            </a:r>
          </a:p>
        </p:txBody>
      </p:sp>
      <p:sp>
        <p:nvSpPr>
          <p:cNvPr id="28" name="사각형: 모서리가 접힌 도형 27">
            <a:extLst>
              <a:ext uri="{FF2B5EF4-FFF2-40B4-BE49-F238E27FC236}">
                <a16:creationId xmlns:a16="http://schemas.microsoft.com/office/drawing/2014/main" id="{309C0FE5-E08F-192F-C839-B09A04A443F0}"/>
              </a:ext>
            </a:extLst>
          </p:cNvPr>
          <p:cNvSpPr/>
          <p:nvPr/>
        </p:nvSpPr>
        <p:spPr>
          <a:xfrm>
            <a:off x="470294" y="5064424"/>
            <a:ext cx="5915025" cy="3272425"/>
          </a:xfrm>
          <a:prstGeom prst="foldedCorner">
            <a:avLst>
              <a:gd name="adj" fmla="val 723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2F1E43-881D-AFB9-EF9C-29C9B1E354D1}"/>
              </a:ext>
            </a:extLst>
          </p:cNvPr>
          <p:cNvSpPr/>
          <p:nvPr/>
        </p:nvSpPr>
        <p:spPr>
          <a:xfrm>
            <a:off x="470298" y="4783235"/>
            <a:ext cx="5915025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액션플랜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41FC62-6B7E-DEDD-5A17-D250DC591871}"/>
              </a:ext>
            </a:extLst>
          </p:cNvPr>
          <p:cNvSpPr txBox="1"/>
          <p:nvPr/>
        </p:nvSpPr>
        <p:spPr>
          <a:xfrm>
            <a:off x="470295" y="5145122"/>
            <a:ext cx="59150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단기적 전략</a:t>
            </a:r>
            <a:r>
              <a:rPr lang="en-US" altLang="ko-KR" sz="1000"/>
              <a:t>: </a:t>
            </a:r>
            <a:r>
              <a:rPr lang="ko-KR" altLang="en-US" sz="1000"/>
              <a:t>고객 맞춤형 요금제 출시</a:t>
            </a:r>
            <a:endParaRPr lang="en-US" altLang="ko-KR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469F87-1FE1-47F6-A0C4-77C0E8EF56B6}"/>
              </a:ext>
            </a:extLst>
          </p:cNvPr>
          <p:cNvSpPr txBox="1"/>
          <p:nvPr/>
        </p:nvSpPr>
        <p:spPr>
          <a:xfrm>
            <a:off x="484729" y="5393491"/>
            <a:ext cx="2032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신규 요금제 추가</a:t>
            </a:r>
            <a:endParaRPr lang="en-US" altLang="ko-KR" sz="10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69F89C-4B5C-FF5A-6024-BDE25D1F3DD6}"/>
              </a:ext>
            </a:extLst>
          </p:cNvPr>
          <p:cNvSpPr txBox="1"/>
          <p:nvPr/>
        </p:nvSpPr>
        <p:spPr>
          <a:xfrm>
            <a:off x="470295" y="7182690"/>
            <a:ext cx="59150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장기적 전략</a:t>
            </a:r>
            <a:r>
              <a:rPr lang="en-US" altLang="ko-KR" sz="1000"/>
              <a:t>: </a:t>
            </a:r>
            <a:r>
              <a:rPr lang="ko-KR" altLang="en-US" sz="1000"/>
              <a:t>고객들이 선호하는 좌석을 명확하게 분리해서 배치</a:t>
            </a:r>
            <a:endParaRPr lang="en-US" altLang="ko-KR" sz="10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6BFA52-9D47-C9B1-5115-0982989FF82F}"/>
              </a:ext>
            </a:extLst>
          </p:cNvPr>
          <p:cNvSpPr txBox="1"/>
          <p:nvPr/>
        </p:nvSpPr>
        <p:spPr>
          <a:xfrm>
            <a:off x="3675456" y="7452854"/>
            <a:ext cx="27098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좌석 유형 축소</a:t>
            </a:r>
            <a:r>
              <a:rPr lang="en-US" altLang="ko-KR" sz="1000"/>
              <a:t>: 10</a:t>
            </a:r>
            <a:r>
              <a:rPr lang="ko-KR" altLang="en-US" sz="1000"/>
              <a:t>개 </a:t>
            </a:r>
            <a:r>
              <a:rPr lang="en-US" altLang="ko-KR" sz="1000">
                <a:sym typeface="Wingdings" panose="05000000000000000000" pitchFamily="2" charset="2"/>
              </a:rPr>
              <a:t> 5</a:t>
            </a:r>
            <a:r>
              <a:rPr lang="ko-KR" altLang="en-US" sz="1000">
                <a:sym typeface="Wingdings" panose="05000000000000000000" pitchFamily="2" charset="2"/>
              </a:rPr>
              <a:t>개</a:t>
            </a:r>
            <a:endParaRPr lang="en-US" altLang="ko-KR" sz="100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>
                <a:sym typeface="Wingdings" panose="05000000000000000000" pitchFamily="2" charset="2"/>
              </a:rPr>
              <a:t>명확한 공간 분리</a:t>
            </a:r>
            <a:r>
              <a:rPr lang="en-US" altLang="ko-KR" sz="1000">
                <a:sym typeface="Wingdings" panose="05000000000000000000" pitchFamily="2" charset="2"/>
              </a:rPr>
              <a:t>: </a:t>
            </a:r>
            <a:r>
              <a:rPr lang="ko-KR" altLang="en-US" sz="1000">
                <a:sym typeface="Wingdings" panose="05000000000000000000" pitchFamily="2" charset="2"/>
              </a:rPr>
              <a:t>소음을 최소화한 몰입 구역</a:t>
            </a:r>
            <a:endParaRPr lang="en-US" altLang="ko-KR" sz="100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>
                <a:sym typeface="Wingdings" panose="05000000000000000000" pitchFamily="2" charset="2"/>
              </a:rPr>
              <a:t>미팅룸 확장</a:t>
            </a:r>
            <a:r>
              <a:rPr lang="en-US" altLang="ko-KR" sz="1000">
                <a:sym typeface="Wingdings" panose="05000000000000000000" pitchFamily="2" charset="2"/>
              </a:rPr>
              <a:t>: 4</a:t>
            </a:r>
            <a:r>
              <a:rPr lang="ko-KR" altLang="en-US" sz="1000">
                <a:sym typeface="Wingdings" panose="05000000000000000000" pitchFamily="2" charset="2"/>
              </a:rPr>
              <a:t>명이 들어갈 수 있는 미팅룸 마련</a:t>
            </a:r>
            <a:endParaRPr lang="en-US" altLang="ko-KR" sz="100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>
                <a:sym typeface="Wingdings" panose="05000000000000000000" pitchFamily="2" charset="2"/>
              </a:rPr>
              <a:t>신규 지점이나 기존 지점 리모델링 시 적용 가능</a:t>
            </a:r>
            <a:endParaRPr lang="en-US" altLang="ko-KR" sz="10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81CAB0-7C0F-063B-8B7F-5F7C981DADAD}"/>
              </a:ext>
            </a:extLst>
          </p:cNvPr>
          <p:cNvSpPr txBox="1"/>
          <p:nvPr/>
        </p:nvSpPr>
        <p:spPr>
          <a:xfrm>
            <a:off x="4560132" y="5398060"/>
            <a:ext cx="1780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요금제 추천 및 할인율 안내</a:t>
            </a:r>
            <a:endParaRPr lang="ko-KR" altLang="en-US" sz="90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FE57C090-0DBB-3661-8880-082E3E702C5F}"/>
              </a:ext>
            </a:extLst>
          </p:cNvPr>
          <p:cNvGrpSpPr/>
          <p:nvPr/>
        </p:nvGrpSpPr>
        <p:grpSpPr>
          <a:xfrm>
            <a:off x="5086557" y="5620820"/>
            <a:ext cx="727987" cy="1106193"/>
            <a:chOff x="5086557" y="5756028"/>
            <a:chExt cx="727987" cy="1106193"/>
          </a:xfrm>
        </p:grpSpPr>
        <p:pic>
          <p:nvPicPr>
            <p:cNvPr id="44" name="그림 43" descr="텍스트, 전자제품, 스크린샷, 소프트웨어이(가) 표시된 사진&#10;&#10;자동 생성된 설명">
              <a:extLst>
                <a:ext uri="{FF2B5EF4-FFF2-40B4-BE49-F238E27FC236}">
                  <a16:creationId xmlns:a16="http://schemas.microsoft.com/office/drawing/2014/main" id="{C5313B37-0176-1F7E-2FFB-4927770AB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817" t="29719" r="905" b="210"/>
            <a:stretch/>
          </p:blipFill>
          <p:spPr>
            <a:xfrm>
              <a:off x="5086557" y="5756028"/>
              <a:ext cx="727987" cy="1106193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62" name="그림 61" descr="텍스트, 전자제품, 스크린샷, 소프트웨어이(가) 표시된 사진&#10;&#10;자동 생성된 설명">
              <a:extLst>
                <a:ext uri="{FF2B5EF4-FFF2-40B4-BE49-F238E27FC236}">
                  <a16:creationId xmlns:a16="http://schemas.microsoft.com/office/drawing/2014/main" id="{79D0BE4F-8304-A2F6-A700-8AACEC053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Glass/>
                      </a14:imgEffect>
                    </a14:imgLayer>
                  </a14:imgProps>
                </a:ext>
              </a:extLst>
            </a:blip>
            <a:srcRect l="15561" t="47704" r="66510" b="45786"/>
            <a:stretch/>
          </p:blipFill>
          <p:spPr>
            <a:xfrm>
              <a:off x="5196336" y="6043819"/>
              <a:ext cx="130632" cy="102775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64" name="그림 63" descr="텍스트, 명함, 스크린샷, 폰트이(가) 표시된 사진&#10;&#10;자동 생성된 설명">
            <a:extLst>
              <a:ext uri="{FF2B5EF4-FFF2-40B4-BE49-F238E27FC236}">
                <a16:creationId xmlns:a16="http://schemas.microsoft.com/office/drawing/2014/main" id="{12ED2DF1-AAE7-9003-081C-1AD2764DCC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4826" r="51014"/>
          <a:stretch/>
        </p:blipFill>
        <p:spPr>
          <a:xfrm>
            <a:off x="1075275" y="5608120"/>
            <a:ext cx="933279" cy="95735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40BEFED1-D95D-8CDC-154E-26663804D342}"/>
              </a:ext>
            </a:extLst>
          </p:cNvPr>
          <p:cNvSpPr txBox="1"/>
          <p:nvPr/>
        </p:nvSpPr>
        <p:spPr>
          <a:xfrm>
            <a:off x="2411334" y="5391343"/>
            <a:ext cx="2032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무료 체험 기간 동안 이용 패턴 분석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209CAC-5350-D547-65C8-1E78F0596C63}"/>
              </a:ext>
            </a:extLst>
          </p:cNvPr>
          <p:cNvSpPr txBox="1"/>
          <p:nvPr/>
        </p:nvSpPr>
        <p:spPr>
          <a:xfrm>
            <a:off x="537622" y="6602737"/>
            <a:ext cx="2008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900"/>
              <a:t>4</a:t>
            </a:r>
            <a:r>
              <a:rPr lang="ko-KR" altLang="en-US" sz="900"/>
              <a:t>시간 요금제</a:t>
            </a:r>
            <a:r>
              <a:rPr lang="en-US" altLang="ko-KR" sz="900"/>
              <a:t>(</a:t>
            </a:r>
            <a:r>
              <a:rPr lang="ko-KR" altLang="en-US" sz="900"/>
              <a:t>무료체험 시간 최빈값</a:t>
            </a:r>
            <a:r>
              <a:rPr lang="en-US" altLang="ko-KR" sz="900"/>
              <a:t>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900"/>
              <a:t>6</a:t>
            </a:r>
            <a:r>
              <a:rPr lang="ko-KR" altLang="en-US" sz="900"/>
              <a:t>시간 요금제</a:t>
            </a:r>
            <a:r>
              <a:rPr lang="en-US" altLang="ko-KR" sz="900"/>
              <a:t>(</a:t>
            </a:r>
            <a:r>
              <a:rPr lang="ko-KR" altLang="en-US" sz="900"/>
              <a:t>무료체험 시간 평균값</a:t>
            </a:r>
            <a:r>
              <a:rPr lang="en-US" altLang="ko-KR" sz="900"/>
              <a:t>)</a:t>
            </a:r>
            <a:endParaRPr lang="ko-KR" altLang="en-US" sz="900"/>
          </a:p>
        </p:txBody>
      </p:sp>
      <p:pic>
        <p:nvPicPr>
          <p:cNvPr id="73" name="그래픽 72" descr="가로 막대형 차트 단색으로 채워진">
            <a:extLst>
              <a:ext uri="{FF2B5EF4-FFF2-40B4-BE49-F238E27FC236}">
                <a16:creationId xmlns:a16="http://schemas.microsoft.com/office/drawing/2014/main" id="{BAED4992-D9D8-744E-2500-9B22E11CCE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49063" y="5608120"/>
            <a:ext cx="1101950" cy="1101950"/>
          </a:xfrm>
          <a:prstGeom prst="rect">
            <a:avLst/>
          </a:prstGeom>
        </p:spPr>
      </p:pic>
      <p:sp>
        <p:nvSpPr>
          <p:cNvPr id="74" name="화살표: 갈매기형 수장 73">
            <a:extLst>
              <a:ext uri="{FF2B5EF4-FFF2-40B4-BE49-F238E27FC236}">
                <a16:creationId xmlns:a16="http://schemas.microsoft.com/office/drawing/2014/main" id="{C9E1E7AB-B093-6D97-B49A-0E481F88A41A}"/>
              </a:ext>
            </a:extLst>
          </p:cNvPr>
          <p:cNvSpPr/>
          <p:nvPr/>
        </p:nvSpPr>
        <p:spPr>
          <a:xfrm>
            <a:off x="2305060" y="5895911"/>
            <a:ext cx="442531" cy="462646"/>
          </a:xfrm>
          <a:prstGeom prst="chevron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화살표: 갈매기형 수장 74">
            <a:extLst>
              <a:ext uri="{FF2B5EF4-FFF2-40B4-BE49-F238E27FC236}">
                <a16:creationId xmlns:a16="http://schemas.microsoft.com/office/drawing/2014/main" id="{449D1BAD-77E5-CF4C-BD10-3DCF29719021}"/>
              </a:ext>
            </a:extLst>
          </p:cNvPr>
          <p:cNvSpPr/>
          <p:nvPr/>
        </p:nvSpPr>
        <p:spPr>
          <a:xfrm>
            <a:off x="4338865" y="5895911"/>
            <a:ext cx="442531" cy="462646"/>
          </a:xfrm>
          <a:prstGeom prst="chevron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8D7BF60-BD8F-7EDA-1423-0A7DF8FC6312}"/>
              </a:ext>
            </a:extLst>
          </p:cNvPr>
          <p:cNvSpPr txBox="1"/>
          <p:nvPr/>
        </p:nvSpPr>
        <p:spPr>
          <a:xfrm>
            <a:off x="471484" y="528495"/>
            <a:ext cx="4052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2024.12.04 ~ 2024.12.16</a:t>
            </a:r>
            <a:endParaRPr lang="ko-KR" altLang="en-US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06C6CA-35AB-AA4B-A684-6155275BC8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581" y="7438609"/>
            <a:ext cx="2751946" cy="8479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D77568-4602-82BC-7B6A-AA3DEA6E4902}"/>
              </a:ext>
            </a:extLst>
          </p:cNvPr>
          <p:cNvSpPr txBox="1"/>
          <p:nvPr/>
        </p:nvSpPr>
        <p:spPr>
          <a:xfrm>
            <a:off x="471487" y="8398050"/>
            <a:ext cx="5915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/>
              <a:t>기대효과</a:t>
            </a:r>
            <a:endParaRPr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/>
              <a:t>무료체험 후 유료 결제율 </a:t>
            </a:r>
            <a:r>
              <a:rPr lang="en-US" altLang="ko-KR" sz="1400"/>
              <a:t>3%</a:t>
            </a:r>
            <a:r>
              <a:rPr lang="ko-KR" altLang="en-US" sz="1400"/>
              <a:t> 증가</a:t>
            </a:r>
            <a:r>
              <a:rPr lang="en-US" altLang="ko-KR" sz="1400"/>
              <a:t>(23</a:t>
            </a:r>
            <a:r>
              <a:rPr lang="ko-KR" altLang="en-US" sz="1400"/>
              <a:t>년 </a:t>
            </a:r>
            <a:r>
              <a:rPr lang="en-US" altLang="ko-KR" sz="1400"/>
              <a:t>12</a:t>
            </a:r>
            <a:r>
              <a:rPr lang="ko-KR" altLang="en-US" sz="1400"/>
              <a:t>월 유료 전환율</a:t>
            </a:r>
            <a:r>
              <a:rPr lang="en-US" altLang="ko-KR" sz="1400"/>
              <a:t>: 24%)</a:t>
            </a:r>
          </a:p>
        </p:txBody>
      </p:sp>
    </p:spTree>
    <p:extLst>
      <p:ext uri="{BB962C8B-B14F-4D97-AF65-F5344CB8AC3E}">
        <p14:creationId xmlns:p14="http://schemas.microsoft.com/office/powerpoint/2010/main" val="363638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FE361-96C2-BDE3-DB90-1C78F12EA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0E968-C046-E332-945C-8CCC5B50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/>
              <a:t>4. </a:t>
            </a:r>
            <a:r>
              <a:rPr lang="ko-KR" altLang="en-US" sz="2000"/>
              <a:t>청소년 대상 앙케이트 서비스 질문 후보 알고리즘 개선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F3307-70E0-1858-2110-49A88ED40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872697"/>
            <a:ext cx="5915025" cy="15180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1800"/>
              <a:t>  프로젝트 개요</a:t>
            </a:r>
            <a:endParaRPr lang="en-US" altLang="ko-KR" sz="1800"/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현황</a:t>
            </a:r>
            <a:r>
              <a:rPr lang="en-US" altLang="ko-KR" sz="1400"/>
              <a:t>: </a:t>
            </a:r>
            <a:r>
              <a:rPr lang="ko-KR" altLang="en-US"/>
              <a:t>수익 모델에서 가장 수익성이 높은 기능은 힌트를 사용하는 </a:t>
            </a:r>
            <a:r>
              <a:rPr lang="en-US" altLang="ko-KR"/>
              <a:t>“</a:t>
            </a:r>
            <a:r>
              <a:rPr lang="ko-KR" altLang="en-US"/>
              <a:t>초성 확인</a:t>
            </a:r>
            <a:r>
              <a:rPr lang="en-US" altLang="ko-KR"/>
              <a:t>“</a:t>
            </a:r>
            <a:r>
              <a:rPr lang="ko-KR" altLang="en-US"/>
              <a:t>이지만 전체 투표의 </a:t>
            </a:r>
            <a:r>
              <a:rPr lang="en-US" altLang="ko-KR"/>
              <a:t>5%</a:t>
            </a:r>
            <a:r>
              <a:rPr lang="ko-KR" altLang="en-US"/>
              <a:t>에서만 사용되었음</a:t>
            </a:r>
            <a:endParaRPr lang="en-US" altLang="ko-KR" sz="1400"/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문제</a:t>
            </a:r>
            <a:r>
              <a:rPr lang="en-US" altLang="ko-KR" sz="1400"/>
              <a:t>: </a:t>
            </a:r>
            <a:r>
              <a:rPr lang="ko-KR" altLang="en-US" sz="1400"/>
              <a:t>유저들이 초성 확인을 많이 사용하게 하는 방법은 무엇인가</a:t>
            </a:r>
            <a:r>
              <a:rPr lang="en-US" altLang="ko-KR" sz="1400"/>
              <a:t>?</a:t>
            </a:r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목표</a:t>
            </a:r>
            <a:r>
              <a:rPr lang="en-US" altLang="ko-KR" sz="1400"/>
              <a:t>: </a:t>
            </a:r>
            <a:r>
              <a:rPr lang="ko-KR" altLang="en-US" sz="1400"/>
              <a:t>초성 확인이 많이 발생하는 케이스 탐색 및 초성 확인 증대 방안 제시</a:t>
            </a:r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2E0873-F314-AADD-D47C-BF9E2DBB6BE2}"/>
              </a:ext>
            </a:extLst>
          </p:cNvPr>
          <p:cNvSpPr txBox="1"/>
          <p:nvPr/>
        </p:nvSpPr>
        <p:spPr>
          <a:xfrm>
            <a:off x="471484" y="528495"/>
            <a:ext cx="4052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2025.01.16 ~ 2025.02.24</a:t>
            </a:r>
            <a:endParaRPr lang="ko-KR" altLang="en-US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사각형: 모서리가 접힌 도형 8">
            <a:extLst>
              <a:ext uri="{FF2B5EF4-FFF2-40B4-BE49-F238E27FC236}">
                <a16:creationId xmlns:a16="http://schemas.microsoft.com/office/drawing/2014/main" id="{6A402049-5F03-58D3-C2FF-31049F8F0BE8}"/>
              </a:ext>
            </a:extLst>
          </p:cNvPr>
          <p:cNvSpPr/>
          <p:nvPr/>
        </p:nvSpPr>
        <p:spPr>
          <a:xfrm>
            <a:off x="471485" y="5972383"/>
            <a:ext cx="5834662" cy="3113583"/>
          </a:xfrm>
          <a:prstGeom prst="foldedCorner">
            <a:avLst>
              <a:gd name="adj" fmla="val 89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모서리가 접힌 도형 9">
            <a:extLst>
              <a:ext uri="{FF2B5EF4-FFF2-40B4-BE49-F238E27FC236}">
                <a16:creationId xmlns:a16="http://schemas.microsoft.com/office/drawing/2014/main" id="{6FB9FD86-A2E9-CE80-E53F-1393482712DE}"/>
              </a:ext>
            </a:extLst>
          </p:cNvPr>
          <p:cNvSpPr/>
          <p:nvPr/>
        </p:nvSpPr>
        <p:spPr>
          <a:xfrm>
            <a:off x="471486" y="2708535"/>
            <a:ext cx="5834662" cy="2588440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470CE-41B5-EF14-E87A-609C05E80EAD}"/>
              </a:ext>
            </a:extLst>
          </p:cNvPr>
          <p:cNvSpPr txBox="1"/>
          <p:nvPr/>
        </p:nvSpPr>
        <p:spPr>
          <a:xfrm>
            <a:off x="471487" y="2067677"/>
            <a:ext cx="591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800"/>
              <a:t>프로세스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5BB6B8-3CD6-18F5-81BF-BD7EB2294EF3}"/>
              </a:ext>
            </a:extLst>
          </p:cNvPr>
          <p:cNvSpPr/>
          <p:nvPr/>
        </p:nvSpPr>
        <p:spPr>
          <a:xfrm>
            <a:off x="471489" y="2427347"/>
            <a:ext cx="5834662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1. </a:t>
            </a:r>
            <a:r>
              <a:rPr lang="ko-KR" altLang="en-US" sz="1400">
                <a:solidFill>
                  <a:schemeClr val="tx1"/>
                </a:solidFill>
              </a:rPr>
              <a:t>문제 정의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E603CB-8FBF-F851-1384-302E3D07043E}"/>
              </a:ext>
            </a:extLst>
          </p:cNvPr>
          <p:cNvSpPr/>
          <p:nvPr/>
        </p:nvSpPr>
        <p:spPr>
          <a:xfrm>
            <a:off x="472676" y="5679389"/>
            <a:ext cx="5834662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2. EDA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A8662A-7EA4-8D82-5BF2-E5CA3455065F}"/>
              </a:ext>
            </a:extLst>
          </p:cNvPr>
          <p:cNvSpPr txBox="1"/>
          <p:nvPr/>
        </p:nvSpPr>
        <p:spPr>
          <a:xfrm>
            <a:off x="471487" y="2787016"/>
            <a:ext cx="5834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수익성이 가장 높은 </a:t>
            </a:r>
            <a:r>
              <a:rPr lang="en-US" altLang="ko-KR" sz="1000"/>
              <a:t>“</a:t>
            </a:r>
            <a:r>
              <a:rPr lang="ko-KR" altLang="en-US" sz="1000"/>
              <a:t>초성 확인</a:t>
            </a:r>
            <a:r>
              <a:rPr lang="en-US" altLang="ko-KR" sz="1000"/>
              <a:t>“ </a:t>
            </a:r>
            <a:r>
              <a:rPr lang="ko-KR" altLang="en-US" sz="1000"/>
              <a:t>활성화 방안 논의</a:t>
            </a:r>
          </a:p>
        </p:txBody>
      </p:sp>
      <p:pic>
        <p:nvPicPr>
          <p:cNvPr id="48" name="Picture 7">
            <a:extLst>
              <a:ext uri="{FF2B5EF4-FFF2-40B4-BE49-F238E27FC236}">
                <a16:creationId xmlns:a16="http://schemas.microsoft.com/office/drawing/2014/main" id="{9863E866-7D8F-92F2-3320-B09F2BEA1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651" y="3186641"/>
            <a:ext cx="1531921" cy="1185071"/>
          </a:xfrm>
          <a:prstGeom prst="rect">
            <a:avLst/>
          </a:prstGeom>
        </p:spPr>
      </p:pic>
      <p:pic>
        <p:nvPicPr>
          <p:cNvPr id="56" name="Picture 5">
            <a:extLst>
              <a:ext uri="{FF2B5EF4-FFF2-40B4-BE49-F238E27FC236}">
                <a16:creationId xmlns:a16="http://schemas.microsoft.com/office/drawing/2014/main" id="{2D63F9EA-2FA6-A6A3-5348-34DD8C51B2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32"/>
          <a:stretch/>
        </p:blipFill>
        <p:spPr>
          <a:xfrm>
            <a:off x="664502" y="6348253"/>
            <a:ext cx="1422186" cy="1408455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407CC2D-4E7F-79F4-670F-9895608466A5}"/>
              </a:ext>
            </a:extLst>
          </p:cNvPr>
          <p:cNvSpPr txBox="1"/>
          <p:nvPr/>
        </p:nvSpPr>
        <p:spPr>
          <a:xfrm>
            <a:off x="471487" y="6076700"/>
            <a:ext cx="5834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이성에 대해 투표하거나</a:t>
            </a:r>
            <a:r>
              <a:rPr lang="en-US" altLang="ko-KR" sz="1000"/>
              <a:t>, </a:t>
            </a:r>
            <a:r>
              <a:rPr lang="ko-KR" altLang="en-US" sz="1000"/>
              <a:t>호감을 나타내는 질문에 초성 확인이 주로 이루어짐</a:t>
            </a: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DC837049-B251-158E-5A95-3B18A25D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889849"/>
              </p:ext>
            </p:extLst>
          </p:nvPr>
        </p:nvGraphicFramePr>
        <p:xfrm>
          <a:off x="3428998" y="6516710"/>
          <a:ext cx="2764499" cy="12399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33734">
                  <a:extLst>
                    <a:ext uri="{9D8B030D-6E8A-4147-A177-3AD203B41FA5}">
                      <a16:colId xmlns:a16="http://schemas.microsoft.com/office/drawing/2014/main" val="2918036015"/>
                    </a:ext>
                  </a:extLst>
                </a:gridCol>
                <a:gridCol w="530765">
                  <a:extLst>
                    <a:ext uri="{9D8B030D-6E8A-4147-A177-3AD203B41FA5}">
                      <a16:colId xmlns:a16="http://schemas.microsoft.com/office/drawing/2014/main" val="1635040862"/>
                    </a:ext>
                  </a:extLst>
                </a:gridCol>
              </a:tblGrid>
              <a:tr h="2066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질문 내용</a:t>
                      </a:r>
                    </a:p>
                  </a:txBody>
                  <a:tcPr marL="41648" marR="41648" marT="20824" marB="208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1D7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언급 횟수</a:t>
                      </a:r>
                    </a:p>
                  </a:txBody>
                  <a:tcPr marL="41648" marR="41648" marT="20824" marB="208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1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43446"/>
                  </a:ext>
                </a:extLst>
              </a:tr>
              <a:tr h="2066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아직 잘 모르지만</a:t>
                      </a:r>
                      <a:r>
                        <a:rPr lang="en-US" altLang="ko-KR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, </a:t>
                      </a:r>
                      <a:r>
                        <a:rPr lang="ko-KR" altLang="en-US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더 알아가 보고 싶은 사람은</a:t>
                      </a:r>
                      <a:r>
                        <a:rPr lang="en-US" altLang="ko-KR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?</a:t>
                      </a:r>
                      <a:endParaRPr lang="ko-KR" altLang="en-US" sz="9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41648" marR="41648" marT="20824" marB="2082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279</a:t>
                      </a:r>
                      <a:endParaRPr lang="ko-KR" altLang="en-US" sz="9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41648" marR="41648" marT="20824" marB="2082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44719"/>
                  </a:ext>
                </a:extLst>
              </a:tr>
              <a:tr h="2066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내 생일에 꼭 연락 왔으면 좋겠는 사람은</a:t>
                      </a:r>
                      <a:r>
                        <a:rPr lang="en-US" altLang="ko-KR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?</a:t>
                      </a:r>
                      <a:endParaRPr lang="ko-KR" altLang="en-US" sz="9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41648" marR="41648" marT="20824" marB="208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231</a:t>
                      </a:r>
                      <a:endParaRPr lang="ko-KR" altLang="en-US" sz="9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41648" marR="41648" marT="20824" marB="208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32557"/>
                  </a:ext>
                </a:extLst>
              </a:tr>
              <a:tr h="2066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사귀면 정말 잘해줄 것 같은 사람은</a:t>
                      </a:r>
                      <a:r>
                        <a:rPr lang="en-US" altLang="ko-KR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?</a:t>
                      </a:r>
                      <a:endParaRPr lang="ko-KR" altLang="en-US" sz="9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41648" marR="41648" marT="20824" marB="208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228</a:t>
                      </a:r>
                      <a:endParaRPr lang="ko-KR" altLang="en-US" sz="9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41648" marR="41648" marT="20824" marB="208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879189"/>
                  </a:ext>
                </a:extLst>
              </a:tr>
              <a:tr h="2066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여기서 가장 예쁜 사람은</a:t>
                      </a:r>
                      <a:r>
                        <a:rPr lang="en-US" altLang="ko-KR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?</a:t>
                      </a:r>
                      <a:endParaRPr lang="ko-KR" altLang="en-US" sz="9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41648" marR="41648" marT="20824" marB="208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</a:t>
                      </a:r>
                      <a:endParaRPr lang="ko-KR" altLang="en-US" sz="9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41648" marR="41648" marT="20824" marB="208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204045"/>
                  </a:ext>
                </a:extLst>
              </a:tr>
              <a:tr h="2066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누가 봐도 좋아할 것 같은 호감인 사람은</a:t>
                      </a:r>
                      <a:r>
                        <a:rPr lang="en-US" altLang="ko-KR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?</a:t>
                      </a:r>
                      <a:endParaRPr lang="ko-KR" altLang="en-US" sz="9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41648" marR="41648" marT="20824" marB="208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197</a:t>
                      </a:r>
                      <a:endParaRPr lang="ko-KR" altLang="en-US" sz="9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41648" marR="41648" marT="20824" marB="2082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597302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1186CCC9-C28D-4FCD-B20C-31EBE5B7CF5F}"/>
              </a:ext>
            </a:extLst>
          </p:cNvPr>
          <p:cNvSpPr txBox="1"/>
          <p:nvPr/>
        </p:nvSpPr>
        <p:spPr>
          <a:xfrm>
            <a:off x="3495885" y="6306003"/>
            <a:ext cx="25508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초성 확인이 많이 발생한 질문 </a:t>
            </a:r>
            <a:r>
              <a:rPr lang="en-US" altLang="ko-KR" sz="900"/>
              <a:t>TOP 5</a:t>
            </a:r>
            <a:endParaRPr lang="ko-KR" altLang="en-US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B0CD24-8E16-05DA-A878-929A540B50DD}"/>
              </a:ext>
            </a:extLst>
          </p:cNvPr>
          <p:cNvSpPr txBox="1"/>
          <p:nvPr/>
        </p:nvSpPr>
        <p:spPr>
          <a:xfrm>
            <a:off x="2087879" y="6351080"/>
            <a:ext cx="13411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초성 확인 분포</a:t>
            </a:r>
            <a:endParaRPr lang="en-US" altLang="ko-KR" sz="1000"/>
          </a:p>
          <a:p>
            <a:r>
              <a:rPr lang="ko-KR" altLang="en-US" sz="1000"/>
              <a:t>이성 투표</a:t>
            </a:r>
            <a:r>
              <a:rPr lang="en-US" altLang="ko-KR" sz="1000"/>
              <a:t>: 44,667</a:t>
            </a:r>
            <a:r>
              <a:rPr lang="ko-KR" altLang="en-US" sz="1000"/>
              <a:t>건</a:t>
            </a:r>
            <a:endParaRPr lang="en-US" altLang="ko-KR" sz="1000"/>
          </a:p>
          <a:p>
            <a:r>
              <a:rPr lang="ko-KR" altLang="en-US" sz="1000"/>
              <a:t>동성 투표</a:t>
            </a:r>
            <a:r>
              <a:rPr lang="en-US" altLang="ko-KR" sz="1000"/>
              <a:t>: 15,911</a:t>
            </a:r>
            <a:r>
              <a:rPr lang="ko-KR" altLang="en-US" sz="1000"/>
              <a:t>건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4B8038-386E-D321-C3F3-FDE880E90033}"/>
              </a:ext>
            </a:extLst>
          </p:cNvPr>
          <p:cNvSpPr txBox="1"/>
          <p:nvPr/>
        </p:nvSpPr>
        <p:spPr>
          <a:xfrm>
            <a:off x="471487" y="8765734"/>
            <a:ext cx="5834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latin typeface="+mj-ea"/>
                <a:ea typeface="+mj-ea"/>
              </a:rPr>
              <a:t>청소년들은 자신에게 호감을 표현한 이성이 누구인지 알고 싶어 한다</a:t>
            </a:r>
            <a:r>
              <a:rPr lang="en-US" altLang="ko-KR" sz="1000">
                <a:latin typeface="+mj-ea"/>
                <a:ea typeface="+mj-ea"/>
              </a:rPr>
              <a:t>.</a:t>
            </a:r>
            <a:endParaRPr lang="ko-KR" altLang="en-US" sz="1000">
              <a:latin typeface="+mj-ea"/>
              <a:ea typeface="+mj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75EF2A-D1C5-932B-B63C-A603E523D188}"/>
              </a:ext>
            </a:extLst>
          </p:cNvPr>
          <p:cNvSpPr txBox="1"/>
          <p:nvPr/>
        </p:nvSpPr>
        <p:spPr>
          <a:xfrm>
            <a:off x="4142651" y="4370115"/>
            <a:ext cx="1531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전체 투표에서 초성 확인이 발생한 케이스는</a:t>
            </a:r>
            <a:r>
              <a:rPr lang="en-US" altLang="ko-KR" sz="1000"/>
              <a:t> 5%</a:t>
            </a:r>
            <a:endParaRPr lang="ko-KR" altLang="en-US" sz="10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113032-91AA-6D8B-C900-27FB914E2D44}"/>
              </a:ext>
            </a:extLst>
          </p:cNvPr>
          <p:cNvSpPr txBox="1"/>
          <p:nvPr/>
        </p:nvSpPr>
        <p:spPr>
          <a:xfrm>
            <a:off x="1139188" y="7869325"/>
            <a:ext cx="4579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이성 간 투표에서 초성 확인이 많이 발생하는 이유</a:t>
            </a:r>
            <a:endParaRPr lang="en-US" altLang="ko-KR" sz="1000"/>
          </a:p>
          <a:p>
            <a:pPr marL="228600" indent="-228600">
              <a:buAutoNum type="arabicPeriod"/>
            </a:pPr>
            <a:r>
              <a:rPr lang="ko-KR" altLang="en-US" sz="1000"/>
              <a:t>자신을 향한 관심을 확인하려는 심리</a:t>
            </a:r>
            <a:endParaRPr lang="en-US" altLang="ko-KR" sz="1000"/>
          </a:p>
          <a:p>
            <a:pPr marL="228600" indent="-228600">
              <a:buAutoNum type="arabicPeriod"/>
            </a:pPr>
            <a:r>
              <a:rPr lang="ko-KR" altLang="en-US" sz="1000"/>
              <a:t>이성 간 투표에 감정적 의미를 내포할 가능성이 높음</a:t>
            </a:r>
            <a:endParaRPr lang="en-US" altLang="ko-KR" sz="1000"/>
          </a:p>
          <a:p>
            <a:pPr marL="228600" indent="-228600">
              <a:buAutoNum type="arabicPeriod"/>
            </a:pPr>
            <a:r>
              <a:rPr lang="ko-KR" altLang="en-US" sz="1000"/>
              <a:t>익명성이 만든 불확실성을 해소하려는 본능적 반응</a:t>
            </a:r>
            <a:r>
              <a:rPr lang="en-US" altLang="ko-KR" sz="1000"/>
              <a:t>(Fear Or Missing Out, FOMO)</a:t>
            </a:r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1E12CC6A-76D3-71C2-E047-30503081F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711846"/>
              </p:ext>
            </p:extLst>
          </p:nvPr>
        </p:nvGraphicFramePr>
        <p:xfrm>
          <a:off x="724486" y="3192981"/>
          <a:ext cx="2877146" cy="11624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2146">
                  <a:extLst>
                    <a:ext uri="{9D8B030D-6E8A-4147-A177-3AD203B41FA5}">
                      <a16:colId xmlns:a16="http://schemas.microsoft.com/office/drawing/2014/main" val="2545855084"/>
                    </a:ext>
                  </a:extLst>
                </a:gridCol>
                <a:gridCol w="1885000">
                  <a:extLst>
                    <a:ext uri="{9D8B030D-6E8A-4147-A177-3AD203B41FA5}">
                      <a16:colId xmlns:a16="http://schemas.microsoft.com/office/drawing/2014/main" val="788162543"/>
                    </a:ext>
                  </a:extLst>
                </a:gridCol>
              </a:tblGrid>
              <a:tr h="2655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기능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포인트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220725"/>
                  </a:ext>
                </a:extLst>
              </a:tr>
              <a:tr h="2655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답장 보내기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10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027079"/>
                  </a:ext>
                </a:extLst>
              </a:tr>
              <a:tr h="2655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비밀 답장 보내기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30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934064"/>
                  </a:ext>
                </a:extLst>
              </a:tr>
              <a:tr h="2837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초성 확인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200,300,500,1000</a:t>
                      </a:r>
                    </a:p>
                    <a:p>
                      <a:pPr algn="ctr" latinLnBrk="1"/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연속 사용할수록 포인트 소모량 증가</a:t>
                      </a:r>
                      <a:r>
                        <a:rPr lang="en-US" altLang="ko-KR" sz="900"/>
                        <a:t>)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864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263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E876-15EE-DD68-A00D-5818B29EA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534FF-8336-135C-7077-B20217398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/>
              <a:t>4. </a:t>
            </a:r>
            <a:r>
              <a:rPr lang="ko-KR" altLang="en-US" sz="2000"/>
              <a:t>청소년 대상 앙케이트 서비스 질문 후보 알고리즘 개선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0FD0F8-9E6A-13FB-3B3A-02E6675B48F6}"/>
              </a:ext>
            </a:extLst>
          </p:cNvPr>
          <p:cNvSpPr txBox="1"/>
          <p:nvPr/>
        </p:nvSpPr>
        <p:spPr>
          <a:xfrm>
            <a:off x="471484" y="528495"/>
            <a:ext cx="4052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2025.01.16 ~ 2025.02.24</a:t>
            </a:r>
            <a:endParaRPr lang="ko-KR" altLang="en-US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사각형: 모서리가 접힌 도형 9">
            <a:extLst>
              <a:ext uri="{FF2B5EF4-FFF2-40B4-BE49-F238E27FC236}">
                <a16:creationId xmlns:a16="http://schemas.microsoft.com/office/drawing/2014/main" id="{474DA249-D6CD-AC3B-F087-854FD10F2DC1}"/>
              </a:ext>
            </a:extLst>
          </p:cNvPr>
          <p:cNvSpPr/>
          <p:nvPr/>
        </p:nvSpPr>
        <p:spPr>
          <a:xfrm>
            <a:off x="471486" y="1508690"/>
            <a:ext cx="5834662" cy="4137730"/>
          </a:xfrm>
          <a:prstGeom prst="foldedCorner">
            <a:avLst>
              <a:gd name="adj" fmla="val 76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AF723F-1AD8-C509-4D63-D0D17C835B21}"/>
              </a:ext>
            </a:extLst>
          </p:cNvPr>
          <p:cNvSpPr txBox="1"/>
          <p:nvPr/>
        </p:nvSpPr>
        <p:spPr>
          <a:xfrm>
            <a:off x="471487" y="867832"/>
            <a:ext cx="591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800"/>
              <a:t>프로세스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316DABF-B83C-9A2B-4678-0B980159E8CE}"/>
              </a:ext>
            </a:extLst>
          </p:cNvPr>
          <p:cNvSpPr/>
          <p:nvPr/>
        </p:nvSpPr>
        <p:spPr>
          <a:xfrm>
            <a:off x="471489" y="1227502"/>
            <a:ext cx="5834662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3. </a:t>
            </a:r>
            <a:r>
              <a:rPr lang="ko-KR" altLang="en-US" sz="1400">
                <a:solidFill>
                  <a:schemeClr val="tx1"/>
                </a:solidFill>
              </a:rPr>
              <a:t>질문 라벨링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7802A54D-C864-4E9D-EF4D-45E7D9123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247" y="2419356"/>
            <a:ext cx="4365275" cy="4340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89831D-9C00-C693-3C7E-BD7E4CA80241}"/>
              </a:ext>
            </a:extLst>
          </p:cNvPr>
          <p:cNvSpPr txBox="1"/>
          <p:nvPr/>
        </p:nvSpPr>
        <p:spPr>
          <a:xfrm>
            <a:off x="471487" y="1596834"/>
            <a:ext cx="5834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전체 질문</a:t>
            </a:r>
            <a:r>
              <a:rPr lang="en-US" altLang="ko-KR" sz="1000"/>
              <a:t>(3,898</a:t>
            </a:r>
            <a:r>
              <a:rPr lang="ko-KR" altLang="en-US" sz="1000"/>
              <a:t>개</a:t>
            </a:r>
            <a:r>
              <a:rPr lang="en-US" altLang="ko-KR" sz="1000"/>
              <a:t>)</a:t>
            </a:r>
            <a:r>
              <a:rPr lang="ko-KR" altLang="en-US" sz="1000"/>
              <a:t>에 대해 </a:t>
            </a:r>
            <a:r>
              <a:rPr lang="en-US" altLang="ko-KR" sz="1000"/>
              <a:t>‘</a:t>
            </a:r>
            <a:r>
              <a:rPr lang="ko-KR" altLang="en-US" sz="1000"/>
              <a:t>호감 인식 지수</a:t>
            </a:r>
            <a:r>
              <a:rPr lang="en-US" altLang="ko-KR" sz="1000"/>
              <a:t>‘ </a:t>
            </a:r>
            <a:r>
              <a:rPr lang="ko-KR" altLang="en-US" sz="1000"/>
              <a:t>라벨링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686489-7099-7871-F5CD-C94BCF409C7C}"/>
              </a:ext>
            </a:extLst>
          </p:cNvPr>
          <p:cNvSpPr txBox="1"/>
          <p:nvPr/>
        </p:nvSpPr>
        <p:spPr>
          <a:xfrm>
            <a:off x="967738" y="1843055"/>
            <a:ext cx="49225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라벨링 방법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다른 성별</a:t>
            </a:r>
            <a:r>
              <a:rPr lang="en-US" altLang="ko-KR" sz="1000"/>
              <a:t>, </a:t>
            </a:r>
            <a:r>
              <a:rPr lang="ko-KR" altLang="en-US" sz="1000"/>
              <a:t>다른 환경에서 성장한 </a:t>
            </a:r>
            <a:r>
              <a:rPr lang="en-US" altLang="ko-KR" sz="1000"/>
              <a:t>4</a:t>
            </a:r>
            <a:r>
              <a:rPr lang="ko-KR" altLang="en-US" sz="1000"/>
              <a:t>명의 라벨러들이 각 질문에 대해 </a:t>
            </a:r>
            <a:r>
              <a:rPr lang="en-US" altLang="ko-KR" sz="1000"/>
              <a:t>‘</a:t>
            </a:r>
            <a:r>
              <a:rPr lang="ko-KR" altLang="en-US" sz="1000"/>
              <a:t>호감 인식 지수</a:t>
            </a:r>
            <a:r>
              <a:rPr lang="en-US" altLang="ko-KR" sz="1000"/>
              <a:t>‘</a:t>
            </a:r>
            <a:r>
              <a:rPr lang="ko-KR" altLang="en-US" sz="1000"/>
              <a:t>를 라벨링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각 평균을 통해 라벨링 계산 </a:t>
            </a:r>
            <a:r>
              <a:rPr lang="en-US" altLang="ko-KR" sz="1000">
                <a:sym typeface="Wingdings" panose="05000000000000000000" pitchFamily="2" charset="2"/>
              </a:rPr>
              <a:t> 0~2</a:t>
            </a:r>
            <a:r>
              <a:rPr lang="ko-KR" altLang="en-US" sz="1000">
                <a:sym typeface="Wingdings" panose="05000000000000000000" pitchFamily="2" charset="2"/>
              </a:rPr>
              <a:t>점의 범위를 가진 실수형 점수</a:t>
            </a:r>
            <a:endParaRPr lang="ko-KR" altLang="en-US" sz="100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FCB513E-2B4B-8E14-5C7C-88154E85A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174414"/>
              </p:ext>
            </p:extLst>
          </p:nvPr>
        </p:nvGraphicFramePr>
        <p:xfrm>
          <a:off x="772929" y="2994658"/>
          <a:ext cx="5312142" cy="226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0714">
                  <a:extLst>
                    <a:ext uri="{9D8B030D-6E8A-4147-A177-3AD203B41FA5}">
                      <a16:colId xmlns:a16="http://schemas.microsoft.com/office/drawing/2014/main" val="3945761614"/>
                    </a:ext>
                  </a:extLst>
                </a:gridCol>
                <a:gridCol w="1770714">
                  <a:extLst>
                    <a:ext uri="{9D8B030D-6E8A-4147-A177-3AD203B41FA5}">
                      <a16:colId xmlns:a16="http://schemas.microsoft.com/office/drawing/2014/main" val="2084378958"/>
                    </a:ext>
                  </a:extLst>
                </a:gridCol>
                <a:gridCol w="1770714">
                  <a:extLst>
                    <a:ext uri="{9D8B030D-6E8A-4147-A177-3AD203B41FA5}">
                      <a16:colId xmlns:a16="http://schemas.microsoft.com/office/drawing/2014/main" val="417858055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06922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57862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92040"/>
                  </a:ext>
                </a:extLst>
              </a:tr>
            </a:tbl>
          </a:graphicData>
        </a:graphic>
      </p:graphicFrame>
      <p:pic>
        <p:nvPicPr>
          <p:cNvPr id="19" name="Picture 5">
            <a:extLst>
              <a:ext uri="{FF2B5EF4-FFF2-40B4-BE49-F238E27FC236}">
                <a16:creationId xmlns:a16="http://schemas.microsoft.com/office/drawing/2014/main" id="{0E683BAE-75DC-E14A-AA79-5FAC98D6B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38" y="3308710"/>
            <a:ext cx="1702645" cy="915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9">
            <a:extLst>
              <a:ext uri="{FF2B5EF4-FFF2-40B4-BE49-F238E27FC236}">
                <a16:creationId xmlns:a16="http://schemas.microsoft.com/office/drawing/2014/main" id="{381066F3-65F4-FAD1-3087-BAFB01568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834" y="3303651"/>
            <a:ext cx="1702645" cy="9208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13">
            <a:extLst>
              <a:ext uri="{FF2B5EF4-FFF2-40B4-BE49-F238E27FC236}">
                <a16:creationId xmlns:a16="http://schemas.microsoft.com/office/drawing/2014/main" id="{F5F08C06-ABC2-713A-3F10-809D7AA999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8530" y="3304362"/>
            <a:ext cx="1706016" cy="92018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01E1782-4C52-E9C2-BE88-7912B154B7F0}"/>
              </a:ext>
            </a:extLst>
          </p:cNvPr>
          <p:cNvSpPr txBox="1"/>
          <p:nvPr/>
        </p:nvSpPr>
        <p:spPr>
          <a:xfrm>
            <a:off x="841139" y="4381500"/>
            <a:ext cx="1685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주요 특징 및 키워드</a:t>
            </a:r>
            <a:endParaRPr lang="en-US" altLang="ko-KR" sz="9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/>
              <a:t>예측 키워드 등장</a:t>
            </a:r>
            <a:endParaRPr lang="en-US" altLang="ko-KR" sz="9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/>
              <a:t>정도를 나타내는 키워드</a:t>
            </a:r>
            <a:endParaRPr lang="en-US" altLang="ko-KR" sz="9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/>
              <a:t>특성에 관한 키워드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3464CB-E690-0D7A-9FE2-7095EA9C88E1}"/>
              </a:ext>
            </a:extLst>
          </p:cNvPr>
          <p:cNvSpPr txBox="1"/>
          <p:nvPr/>
        </p:nvSpPr>
        <p:spPr>
          <a:xfrm>
            <a:off x="2594834" y="4381500"/>
            <a:ext cx="1702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주요 특징 및 키워드</a:t>
            </a:r>
            <a:endParaRPr lang="en-US" altLang="ko-KR" sz="9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900"/>
              <a:t>0</a:t>
            </a:r>
            <a:r>
              <a:rPr lang="ko-KR" altLang="en-US" sz="900"/>
              <a:t>점과 </a:t>
            </a:r>
            <a:r>
              <a:rPr lang="en-US" altLang="ko-KR" sz="900"/>
              <a:t>2</a:t>
            </a:r>
            <a:r>
              <a:rPr lang="ko-KR" altLang="en-US" sz="900"/>
              <a:t>점의 키워드가 혼합</a:t>
            </a:r>
            <a:endParaRPr lang="en-US" altLang="ko-KR" sz="9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/>
              <a:t>외모에 대한 키워드</a:t>
            </a:r>
            <a:endParaRPr lang="en-US" altLang="ko-KR" sz="9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/>
              <a:t>특정 상황에 대한 키워드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A36482-6225-BC05-5F85-955177D27B19}"/>
              </a:ext>
            </a:extLst>
          </p:cNvPr>
          <p:cNvSpPr txBox="1"/>
          <p:nvPr/>
        </p:nvSpPr>
        <p:spPr>
          <a:xfrm>
            <a:off x="4348530" y="4381500"/>
            <a:ext cx="170601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주요 특징 및 키워드</a:t>
            </a:r>
            <a:endParaRPr lang="en-US" altLang="ko-KR" sz="9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/>
              <a:t>장소와 관련된 키워드</a:t>
            </a:r>
            <a:endParaRPr lang="en-US" altLang="ko-KR" sz="9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/>
              <a:t>데이트 관련 키워드</a:t>
            </a:r>
            <a:endParaRPr lang="en-US" altLang="ko-KR" sz="9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/>
              <a:t>투표대상자와 시간을 보내는 키워드 </a:t>
            </a:r>
          </a:p>
        </p:txBody>
      </p:sp>
      <p:sp>
        <p:nvSpPr>
          <p:cNvPr id="31" name="사각형: 모서리가 접힌 도형 30">
            <a:extLst>
              <a:ext uri="{FF2B5EF4-FFF2-40B4-BE49-F238E27FC236}">
                <a16:creationId xmlns:a16="http://schemas.microsoft.com/office/drawing/2014/main" id="{27E4DD84-78AC-8DA7-4A5D-DBA15EB7E6CD}"/>
              </a:ext>
            </a:extLst>
          </p:cNvPr>
          <p:cNvSpPr/>
          <p:nvPr/>
        </p:nvSpPr>
        <p:spPr>
          <a:xfrm>
            <a:off x="471486" y="6245112"/>
            <a:ext cx="5834662" cy="3132393"/>
          </a:xfrm>
          <a:prstGeom prst="foldedCorner">
            <a:avLst>
              <a:gd name="adj" fmla="val 76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5ACDDA9-A637-2C09-0DCE-817BA76D4B9F}"/>
              </a:ext>
            </a:extLst>
          </p:cNvPr>
          <p:cNvSpPr/>
          <p:nvPr/>
        </p:nvSpPr>
        <p:spPr>
          <a:xfrm>
            <a:off x="471489" y="5963924"/>
            <a:ext cx="5834662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4. </a:t>
            </a:r>
            <a:r>
              <a:rPr lang="ko-KR" altLang="en-US" sz="1400">
                <a:solidFill>
                  <a:schemeClr val="tx1"/>
                </a:solidFill>
              </a:rPr>
              <a:t>데이터 분석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611065-5D9D-7FCF-7E68-5EB46C736BB8}"/>
              </a:ext>
            </a:extLst>
          </p:cNvPr>
          <p:cNvSpPr txBox="1"/>
          <p:nvPr/>
        </p:nvSpPr>
        <p:spPr>
          <a:xfrm>
            <a:off x="471487" y="6333256"/>
            <a:ext cx="5834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호감 인식 지수에 따라 이성 후보 수를 다르게 배치할 필요가 있음</a:t>
            </a:r>
            <a:endParaRPr lang="en-US" altLang="ko-KR" sz="1000"/>
          </a:p>
        </p:txBody>
      </p:sp>
      <p:pic>
        <p:nvPicPr>
          <p:cNvPr id="34" name="Picture 7">
            <a:extLst>
              <a:ext uri="{FF2B5EF4-FFF2-40B4-BE49-F238E27FC236}">
                <a16:creationId xmlns:a16="http://schemas.microsoft.com/office/drawing/2014/main" id="{2649DE90-FC44-E6C6-6320-E98B003FC9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852" y="6721149"/>
            <a:ext cx="1575601" cy="1166758"/>
          </a:xfrm>
          <a:prstGeom prst="rect">
            <a:avLst/>
          </a:prstGeom>
        </p:spPr>
      </p:pic>
      <p:pic>
        <p:nvPicPr>
          <p:cNvPr id="43" name="Picture 5">
            <a:extLst>
              <a:ext uri="{FF2B5EF4-FFF2-40B4-BE49-F238E27FC236}">
                <a16:creationId xmlns:a16="http://schemas.microsoft.com/office/drawing/2014/main" id="{6D2058F8-5699-805E-289B-D08ED5EEC4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610" y="6721149"/>
            <a:ext cx="2367238" cy="1166758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97B406A0-7DF8-C225-AA02-3AD8CAD8CE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6975" y="6721149"/>
            <a:ext cx="1525335" cy="116966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29DB7D52-92BD-5D38-7041-3DADC40202E2}"/>
              </a:ext>
            </a:extLst>
          </p:cNvPr>
          <p:cNvSpPr txBox="1"/>
          <p:nvPr/>
        </p:nvSpPr>
        <p:spPr>
          <a:xfrm>
            <a:off x="551852" y="7887907"/>
            <a:ext cx="15756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호감 인식 지수가 높고</a:t>
            </a:r>
            <a:r>
              <a:rPr lang="en-US" altLang="ko-KR" sz="900"/>
              <a:t>, </a:t>
            </a:r>
            <a:r>
              <a:rPr lang="ko-KR" altLang="en-US" sz="900"/>
              <a:t>이성에게 투표했을 때 초성 확인 비율이 </a:t>
            </a:r>
            <a:r>
              <a:rPr lang="en-US" altLang="ko-KR" sz="900"/>
              <a:t>37%</a:t>
            </a:r>
            <a:r>
              <a:rPr lang="ko-KR" altLang="en-US" sz="900"/>
              <a:t>까지 증가</a:t>
            </a:r>
            <a:endParaRPr lang="en-US" altLang="ko-KR" sz="9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316C5B-8784-2787-E85A-D96A142C4C72}"/>
              </a:ext>
            </a:extLst>
          </p:cNvPr>
          <p:cNvSpPr txBox="1"/>
          <p:nvPr/>
        </p:nvSpPr>
        <p:spPr>
          <a:xfrm>
            <a:off x="2208360" y="7887907"/>
            <a:ext cx="152395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사지선다 후보에 이성 친구 수가 많아질수록 이성에게 투표하는 비율 증가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05F151-5792-3CF1-30E3-2AFF0C28ABD6}"/>
              </a:ext>
            </a:extLst>
          </p:cNvPr>
          <p:cNvSpPr txBox="1"/>
          <p:nvPr/>
        </p:nvSpPr>
        <p:spPr>
          <a:xfrm>
            <a:off x="3835610" y="7887907"/>
            <a:ext cx="236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현재 앱 서비스에서는 질문 유형에 관계없이 이성 후보 분포가 모두 동일함</a:t>
            </a:r>
          </a:p>
        </p:txBody>
      </p:sp>
      <p:sp>
        <p:nvSpPr>
          <p:cNvPr id="49" name="화살표: 아래쪽 48">
            <a:extLst>
              <a:ext uri="{FF2B5EF4-FFF2-40B4-BE49-F238E27FC236}">
                <a16:creationId xmlns:a16="http://schemas.microsoft.com/office/drawing/2014/main" id="{6001ECC3-480B-E15E-1700-BE2373DD320F}"/>
              </a:ext>
            </a:extLst>
          </p:cNvPr>
          <p:cNvSpPr/>
          <p:nvPr/>
        </p:nvSpPr>
        <p:spPr>
          <a:xfrm>
            <a:off x="3005138" y="8439203"/>
            <a:ext cx="628650" cy="400110"/>
          </a:xfrm>
          <a:prstGeom prst="downArrow">
            <a:avLst/>
          </a:prstGeom>
          <a:solidFill>
            <a:srgbClr val="2D53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71DFB3-3C10-8C7B-C311-A51B41751745}"/>
              </a:ext>
            </a:extLst>
          </p:cNvPr>
          <p:cNvSpPr txBox="1"/>
          <p:nvPr/>
        </p:nvSpPr>
        <p:spPr>
          <a:xfrm>
            <a:off x="471487" y="8940628"/>
            <a:ext cx="5834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latin typeface="+mj-ea"/>
                <a:ea typeface="+mj-ea"/>
              </a:rPr>
              <a:t>초성 확인을 늘리기 위해 호감인식지수가 높은 질문에 이성 후보 수를 높여야 한다</a:t>
            </a:r>
            <a:r>
              <a:rPr lang="en-US" altLang="ko-KR" sz="1000">
                <a:latin typeface="+mj-ea"/>
                <a:ea typeface="+mj-ea"/>
              </a:rPr>
              <a:t>.</a:t>
            </a:r>
            <a:endParaRPr lang="ko-KR" altLang="en-US" sz="10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68334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2D651-69E3-64C7-BE3E-4BB5570B3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3251B4-B0B2-9BB3-097A-EE6F1C13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/>
              <a:t>4. </a:t>
            </a:r>
            <a:r>
              <a:rPr lang="ko-KR" altLang="en-US" sz="2000"/>
              <a:t>청소년 대상 앙케이트 서비스 질문 후보 알고리즘 개선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0DCD4-F6FA-A0CB-CD64-DA32AE5E1F69}"/>
              </a:ext>
            </a:extLst>
          </p:cNvPr>
          <p:cNvSpPr txBox="1"/>
          <p:nvPr/>
        </p:nvSpPr>
        <p:spPr>
          <a:xfrm>
            <a:off x="471484" y="528495"/>
            <a:ext cx="4052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2025.01.16 ~ 2025.02.24</a:t>
            </a:r>
            <a:endParaRPr lang="ko-KR" altLang="en-US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사각형: 모서리가 접힌 도형 9">
            <a:extLst>
              <a:ext uri="{FF2B5EF4-FFF2-40B4-BE49-F238E27FC236}">
                <a16:creationId xmlns:a16="http://schemas.microsoft.com/office/drawing/2014/main" id="{49A3038F-D7E3-1525-890C-B1A4CC4FF640}"/>
              </a:ext>
            </a:extLst>
          </p:cNvPr>
          <p:cNvSpPr/>
          <p:nvPr/>
        </p:nvSpPr>
        <p:spPr>
          <a:xfrm>
            <a:off x="471486" y="1508690"/>
            <a:ext cx="5834662" cy="6800476"/>
          </a:xfrm>
          <a:prstGeom prst="foldedCorner">
            <a:avLst>
              <a:gd name="adj" fmla="val 316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FA9000-F914-1601-02C5-F23548C95F1E}"/>
              </a:ext>
            </a:extLst>
          </p:cNvPr>
          <p:cNvSpPr txBox="1"/>
          <p:nvPr/>
        </p:nvSpPr>
        <p:spPr>
          <a:xfrm>
            <a:off x="471487" y="867832"/>
            <a:ext cx="591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800"/>
              <a:t>프로세스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A5830A-A61C-8DE7-A7A5-748C29ECBBC6}"/>
              </a:ext>
            </a:extLst>
          </p:cNvPr>
          <p:cNvSpPr/>
          <p:nvPr/>
        </p:nvSpPr>
        <p:spPr>
          <a:xfrm>
            <a:off x="471489" y="1227502"/>
            <a:ext cx="5834662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5. </a:t>
            </a:r>
            <a:r>
              <a:rPr lang="ko-KR" altLang="en-US" sz="1400">
                <a:solidFill>
                  <a:schemeClr val="tx1"/>
                </a:solidFill>
              </a:rPr>
              <a:t>질문에 따른 이성 후보 배치 알고리즘 구현 및 </a:t>
            </a:r>
            <a:r>
              <a:rPr lang="en-US" altLang="ko-KR" sz="1400">
                <a:solidFill>
                  <a:schemeClr val="tx1"/>
                </a:solidFill>
              </a:rPr>
              <a:t>A/B </a:t>
            </a:r>
            <a:r>
              <a:rPr lang="ko-KR" altLang="en-US" sz="1400">
                <a:solidFill>
                  <a:schemeClr val="tx1"/>
                </a:solidFill>
              </a:rPr>
              <a:t>테스트 제안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EC5BA8-AB87-6772-A676-56867B471007}"/>
              </a:ext>
            </a:extLst>
          </p:cNvPr>
          <p:cNvSpPr txBox="1"/>
          <p:nvPr/>
        </p:nvSpPr>
        <p:spPr>
          <a:xfrm>
            <a:off x="471487" y="1596834"/>
            <a:ext cx="5834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latin typeface="+mj-ea"/>
                <a:ea typeface="+mj-ea"/>
              </a:rPr>
              <a:t>“</a:t>
            </a:r>
            <a:r>
              <a:rPr lang="ko-KR" altLang="en-US" sz="1000">
                <a:latin typeface="+mj-ea"/>
                <a:ea typeface="+mj-ea"/>
              </a:rPr>
              <a:t>설레는 질문</a:t>
            </a:r>
            <a:r>
              <a:rPr lang="en-US" altLang="ko-KR" sz="1000">
                <a:latin typeface="+mj-ea"/>
                <a:ea typeface="+mj-ea"/>
              </a:rPr>
              <a:t>, </a:t>
            </a:r>
            <a:r>
              <a:rPr lang="ko-KR" altLang="en-US" sz="1000">
                <a:latin typeface="+mj-ea"/>
                <a:ea typeface="+mj-ea"/>
              </a:rPr>
              <a:t>설레는 후보</a:t>
            </a:r>
            <a:r>
              <a:rPr lang="en-US" altLang="ko-KR" sz="1000">
                <a:latin typeface="+mj-ea"/>
                <a:ea typeface="+mj-ea"/>
              </a:rPr>
              <a:t>”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CA8497E-B2D9-D9E1-FDDE-872B46544C03}"/>
              </a:ext>
            </a:extLst>
          </p:cNvPr>
          <p:cNvGrpSpPr/>
          <p:nvPr/>
        </p:nvGrpSpPr>
        <p:grpSpPr>
          <a:xfrm>
            <a:off x="1272759" y="2489474"/>
            <a:ext cx="4312482" cy="1154559"/>
            <a:chOff x="1338288" y="2489474"/>
            <a:chExt cx="4312482" cy="1154559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AE134895-11B7-4441-FF5F-AD1EF8A7F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6892"/>
            <a:stretch/>
          </p:blipFill>
          <p:spPr>
            <a:xfrm>
              <a:off x="1338288" y="2731413"/>
              <a:ext cx="946421" cy="912620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672BB68-A405-4FF0-C8D6-911BA80C1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92191" y="2731413"/>
              <a:ext cx="2858578" cy="91262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F7D72CC-DF1E-81A9-BB58-934B6F8E40A9}"/>
                </a:ext>
              </a:extLst>
            </p:cNvPr>
            <p:cNvSpPr txBox="1"/>
            <p:nvPr/>
          </p:nvSpPr>
          <p:spPr>
            <a:xfrm>
              <a:off x="1338288" y="2489474"/>
              <a:ext cx="9464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/>
                <a:t>BEFORE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D6C997-705A-6111-EC58-59E024E0AE64}"/>
                </a:ext>
              </a:extLst>
            </p:cNvPr>
            <p:cNvSpPr txBox="1"/>
            <p:nvPr/>
          </p:nvSpPr>
          <p:spPr>
            <a:xfrm>
              <a:off x="2792192" y="2489474"/>
              <a:ext cx="28585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/>
                <a:t>AFTER</a:t>
              </a:r>
            </a:p>
          </p:txBody>
        </p:sp>
        <p:sp>
          <p:nvSpPr>
            <p:cNvPr id="42" name="화살표: 오른쪽 41">
              <a:extLst>
                <a:ext uri="{FF2B5EF4-FFF2-40B4-BE49-F238E27FC236}">
                  <a16:creationId xmlns:a16="http://schemas.microsoft.com/office/drawing/2014/main" id="{1BD8D7A4-F5A8-75CE-1147-F7525479BC62}"/>
                </a:ext>
              </a:extLst>
            </p:cNvPr>
            <p:cNvSpPr/>
            <p:nvPr/>
          </p:nvSpPr>
          <p:spPr>
            <a:xfrm>
              <a:off x="2385853" y="3048622"/>
              <a:ext cx="341374" cy="246221"/>
            </a:xfrm>
            <a:prstGeom prst="rightArrow">
              <a:avLst/>
            </a:prstGeom>
            <a:solidFill>
              <a:srgbClr val="2D53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24CCD66-B383-5C87-8681-1559A750DF5A}"/>
              </a:ext>
            </a:extLst>
          </p:cNvPr>
          <p:cNvSpPr txBox="1"/>
          <p:nvPr/>
        </p:nvSpPr>
        <p:spPr>
          <a:xfrm>
            <a:off x="1426979" y="1845744"/>
            <a:ext cx="4004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이성 후보 배치 알고리즘</a:t>
            </a: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호감인식지수가 </a:t>
            </a:r>
            <a:r>
              <a:rPr lang="en-US" altLang="ko-KR" sz="1000"/>
              <a:t>1.25</a:t>
            </a:r>
            <a:r>
              <a:rPr lang="ko-KR" altLang="en-US" sz="1000"/>
              <a:t>점 이상인 질문에 이성 후보가 최소 </a:t>
            </a:r>
            <a:r>
              <a:rPr lang="en-US" altLang="ko-KR" sz="1000"/>
              <a:t>2</a:t>
            </a:r>
            <a:r>
              <a:rPr lang="ko-KR" altLang="en-US" sz="1000"/>
              <a:t>명 이상 등장</a:t>
            </a:r>
            <a:endParaRPr lang="en-US" altLang="ko-KR" sz="10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초성 확인 비율이 가장 크게 증가하는 구간</a:t>
            </a:r>
            <a:r>
              <a:rPr lang="en-US" altLang="ko-KR" sz="1000"/>
              <a:t>: 1.25</a:t>
            </a:r>
            <a:r>
              <a:rPr lang="ko-KR" altLang="en-US" sz="1000"/>
              <a:t>점</a:t>
            </a:r>
            <a:endParaRPr lang="en-US" altLang="ko-KR" sz="10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이성을 투표할 때 평균 이성 후보 수</a:t>
            </a:r>
            <a:r>
              <a:rPr lang="en-US" altLang="ko-KR" sz="1000"/>
              <a:t>: 2</a:t>
            </a:r>
            <a:r>
              <a:rPr lang="ko-KR" altLang="en-US" sz="1000"/>
              <a:t>명</a:t>
            </a:r>
            <a:r>
              <a:rPr lang="en-US" altLang="ko-KR" sz="1000"/>
              <a:t> </a:t>
            </a: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5CA891A8-B08A-3221-76DC-02244EDDA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586767"/>
              </p:ext>
            </p:extLst>
          </p:nvPr>
        </p:nvGraphicFramePr>
        <p:xfrm>
          <a:off x="731521" y="3709617"/>
          <a:ext cx="5394959" cy="19708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94959">
                  <a:extLst>
                    <a:ext uri="{9D8B030D-6E8A-4147-A177-3AD203B41FA5}">
                      <a16:colId xmlns:a16="http://schemas.microsoft.com/office/drawing/2014/main" val="2142905347"/>
                    </a:ext>
                  </a:extLst>
                </a:gridCol>
              </a:tblGrid>
              <a:tr h="3366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알고리즘 데모 구현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583479"/>
                  </a:ext>
                </a:extLst>
              </a:tr>
              <a:tr h="1634185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764437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B0C9A5FA-D6D8-8399-373F-16FD064D4AFE}"/>
              </a:ext>
            </a:extLst>
          </p:cNvPr>
          <p:cNvSpPr txBox="1"/>
          <p:nvPr/>
        </p:nvSpPr>
        <p:spPr>
          <a:xfrm>
            <a:off x="471487" y="8388402"/>
            <a:ext cx="59150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800"/>
              <a:t>기대효과</a:t>
            </a:r>
            <a:endParaRPr lang="en-US" altLang="ko-KR" sz="18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/>
              <a:t>초성 확인 횟수 </a:t>
            </a:r>
            <a:r>
              <a:rPr lang="en-US" altLang="ko-KR" sz="1400"/>
              <a:t>10% </a:t>
            </a:r>
            <a:r>
              <a:rPr lang="ko-KR" altLang="en-US" sz="1400"/>
              <a:t>증가</a:t>
            </a:r>
            <a:endParaRPr lang="en-US" altLang="ko-K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/>
              <a:t>초성 확인 횟수 증가에 따른 수익 증가</a:t>
            </a:r>
            <a:endParaRPr lang="en-US" altLang="ko-KR" sz="140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altLang="ko-KR" sz="1400"/>
              <a:t>1</a:t>
            </a:r>
            <a:r>
              <a:rPr lang="ko-KR" altLang="en-US" sz="1400"/>
              <a:t>포인트 당 </a:t>
            </a:r>
            <a:r>
              <a:rPr lang="en-US" altLang="ko-KR" sz="1400"/>
              <a:t>2.9</a:t>
            </a:r>
            <a:r>
              <a:rPr lang="ko-KR" altLang="en-US" sz="1400"/>
              <a:t>원</a:t>
            </a:r>
            <a:r>
              <a:rPr lang="en-US" altLang="ko-KR" sz="1400"/>
              <a:t>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수익 증가량 </a:t>
            </a:r>
            <a:r>
              <a:rPr lang="en-US" altLang="ko-KR" sz="1400">
                <a:sym typeface="Wingdings" panose="05000000000000000000" pitchFamily="2" charset="2"/>
              </a:rPr>
              <a:t>= </a:t>
            </a:r>
            <a:r>
              <a:rPr lang="ko-KR" altLang="en-US" sz="1400">
                <a:sym typeface="Wingdings" panose="05000000000000000000" pitchFamily="2" charset="2"/>
              </a:rPr>
              <a:t>포인트 소모량 </a:t>
            </a:r>
            <a:r>
              <a:rPr lang="en-US" altLang="ko-KR" sz="1400">
                <a:sym typeface="Wingdings" panose="05000000000000000000" pitchFamily="2" charset="2"/>
              </a:rPr>
              <a:t>* 2.9</a:t>
            </a:r>
            <a:r>
              <a:rPr lang="ko-KR" altLang="en-US" sz="1400">
                <a:sym typeface="Wingdings" panose="05000000000000000000" pitchFamily="2" charset="2"/>
              </a:rPr>
              <a:t>원</a:t>
            </a:r>
            <a:endParaRPr lang="en-US" altLang="ko-KR" sz="1400"/>
          </a:p>
        </p:txBody>
      </p:sp>
      <p:pic>
        <p:nvPicPr>
          <p:cNvPr id="54" name="그림 53" descr="텍스트, 스크린샷, 인간의 얼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30511D7-837F-8877-D536-7B75F3A29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112" y="4911855"/>
            <a:ext cx="960691" cy="662062"/>
          </a:xfrm>
          <a:prstGeom prst="rect">
            <a:avLst/>
          </a:prstGeom>
        </p:spPr>
      </p:pic>
      <p:pic>
        <p:nvPicPr>
          <p:cNvPr id="55" name="Picture 13">
            <a:extLst>
              <a:ext uri="{FF2B5EF4-FFF2-40B4-BE49-F238E27FC236}">
                <a16:creationId xmlns:a16="http://schemas.microsoft.com/office/drawing/2014/main" id="{AD09C964-8078-2B0D-4503-4B85478A4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266" y="4214313"/>
            <a:ext cx="802361" cy="403642"/>
          </a:xfrm>
          <a:prstGeom prst="rect">
            <a:avLst/>
          </a:prstGeom>
        </p:spPr>
      </p:pic>
      <p:pic>
        <p:nvPicPr>
          <p:cNvPr id="56" name="Picture 15">
            <a:extLst>
              <a:ext uri="{FF2B5EF4-FFF2-40B4-BE49-F238E27FC236}">
                <a16:creationId xmlns:a16="http://schemas.microsoft.com/office/drawing/2014/main" id="{CB7E6575-FE82-ABDD-A50B-2BAD1C27E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669" y="4643326"/>
            <a:ext cx="797958" cy="232764"/>
          </a:xfrm>
          <a:prstGeom prst="rect">
            <a:avLst/>
          </a:prstGeom>
        </p:spPr>
      </p:pic>
      <p:pic>
        <p:nvPicPr>
          <p:cNvPr id="57" name="Picture 11">
            <a:extLst>
              <a:ext uri="{FF2B5EF4-FFF2-40B4-BE49-F238E27FC236}">
                <a16:creationId xmlns:a16="http://schemas.microsoft.com/office/drawing/2014/main" id="{539897DF-C760-20C5-0956-E65435F66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0352" y="4277899"/>
            <a:ext cx="1116929" cy="403643"/>
          </a:xfrm>
          <a:prstGeom prst="rect">
            <a:avLst/>
          </a:prstGeom>
        </p:spPr>
      </p:pic>
      <p:pic>
        <p:nvPicPr>
          <p:cNvPr id="58" name="Picture 17">
            <a:extLst>
              <a:ext uri="{FF2B5EF4-FFF2-40B4-BE49-F238E27FC236}">
                <a16:creationId xmlns:a16="http://schemas.microsoft.com/office/drawing/2014/main" id="{186EB6F3-F5F9-2F80-D07E-78BDF341F1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4370" y="4240085"/>
            <a:ext cx="805641" cy="467947"/>
          </a:xfrm>
          <a:prstGeom prst="rect">
            <a:avLst/>
          </a:prstGeom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9C64D6F4-3A1D-50A2-7423-C34652419AF6}"/>
              </a:ext>
            </a:extLst>
          </p:cNvPr>
          <p:cNvSpPr/>
          <p:nvPr/>
        </p:nvSpPr>
        <p:spPr>
          <a:xfrm>
            <a:off x="1017812" y="4911855"/>
            <a:ext cx="1117600" cy="6620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tx1"/>
                </a:solidFill>
              </a:rPr>
              <a:t>사용자 정보</a:t>
            </a:r>
            <a:endParaRPr lang="en-US" altLang="ko-KR" sz="9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tx1"/>
                </a:solidFill>
              </a:rPr>
              <a:t>친구 목록</a:t>
            </a:r>
            <a:endParaRPr lang="en-US" altLang="ko-KR" sz="9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tx1"/>
                </a:solidFill>
              </a:rPr>
              <a:t>질문</a:t>
            </a:r>
            <a:endParaRPr lang="en-US" altLang="ko-KR" sz="9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tx1"/>
                </a:solidFill>
              </a:rPr>
              <a:t>프로필 사진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61E59A5-A384-12AC-8126-767636396D85}"/>
              </a:ext>
            </a:extLst>
          </p:cNvPr>
          <p:cNvSpPr/>
          <p:nvPr/>
        </p:nvSpPr>
        <p:spPr>
          <a:xfrm>
            <a:off x="2870195" y="4911855"/>
            <a:ext cx="1117600" cy="6620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tx1"/>
                </a:solidFill>
              </a:rPr>
              <a:t>로그인 처리</a:t>
            </a:r>
            <a:endParaRPr lang="en-US" altLang="ko-KR" sz="9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tx1"/>
                </a:solidFill>
              </a:rPr>
              <a:t>친구 목록</a:t>
            </a:r>
            <a:endParaRPr lang="en-US" altLang="ko-KR" sz="9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tx1"/>
                </a:solidFill>
              </a:rPr>
              <a:t>투표</a:t>
            </a:r>
            <a:endParaRPr lang="en-US" altLang="ko-KR" sz="9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tx1"/>
                </a:solidFill>
              </a:rPr>
              <a:t>데이터 조회</a:t>
            </a: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A936E0D-B920-C457-87E8-B1EB0FAD2B75}"/>
              </a:ext>
            </a:extLst>
          </p:cNvPr>
          <p:cNvCxnSpPr/>
          <p:nvPr/>
        </p:nvCxnSpPr>
        <p:spPr>
          <a:xfrm>
            <a:off x="2219180" y="4277899"/>
            <a:ext cx="555770" cy="0"/>
          </a:xfrm>
          <a:prstGeom prst="straightConnector1">
            <a:avLst/>
          </a:prstGeom>
          <a:ln>
            <a:solidFill>
              <a:srgbClr val="2D53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9B5A3118-FBF6-86D5-CB76-DC248D9C41FA}"/>
              </a:ext>
            </a:extLst>
          </p:cNvPr>
          <p:cNvCxnSpPr/>
          <p:nvPr/>
        </p:nvCxnSpPr>
        <p:spPr>
          <a:xfrm>
            <a:off x="4162278" y="4277899"/>
            <a:ext cx="555770" cy="0"/>
          </a:xfrm>
          <a:prstGeom prst="straightConnector1">
            <a:avLst/>
          </a:prstGeom>
          <a:ln>
            <a:solidFill>
              <a:srgbClr val="2D53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E41ACB97-22F4-B97A-CD2A-FF4281A9A0D4}"/>
              </a:ext>
            </a:extLst>
          </p:cNvPr>
          <p:cNvCxnSpPr>
            <a:cxnSpLocks/>
          </p:cNvCxnSpPr>
          <p:nvPr/>
        </p:nvCxnSpPr>
        <p:spPr>
          <a:xfrm flipH="1">
            <a:off x="2219180" y="4584204"/>
            <a:ext cx="555770" cy="0"/>
          </a:xfrm>
          <a:prstGeom prst="straightConnector1">
            <a:avLst/>
          </a:prstGeom>
          <a:ln>
            <a:solidFill>
              <a:srgbClr val="2D53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92EC856F-B0F3-697E-8A7B-6FA4208AA4D1}"/>
              </a:ext>
            </a:extLst>
          </p:cNvPr>
          <p:cNvCxnSpPr>
            <a:cxnSpLocks/>
          </p:cNvCxnSpPr>
          <p:nvPr/>
        </p:nvCxnSpPr>
        <p:spPr>
          <a:xfrm flipH="1">
            <a:off x="4162278" y="4584204"/>
            <a:ext cx="555770" cy="0"/>
          </a:xfrm>
          <a:prstGeom prst="straightConnector1">
            <a:avLst/>
          </a:prstGeom>
          <a:ln>
            <a:solidFill>
              <a:srgbClr val="2D53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8273096-AC7A-FC9B-31D2-C950F89DDF4F}"/>
              </a:ext>
            </a:extLst>
          </p:cNvPr>
          <p:cNvSpPr txBox="1"/>
          <p:nvPr/>
        </p:nvSpPr>
        <p:spPr>
          <a:xfrm>
            <a:off x="2349217" y="4584576"/>
            <a:ext cx="3779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SQL</a:t>
            </a:r>
            <a:endParaRPr lang="ko-KR" altLang="en-US" sz="8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A1FC00E-883D-279C-3B7F-E9D745F30C2A}"/>
              </a:ext>
            </a:extLst>
          </p:cNvPr>
          <p:cNvSpPr txBox="1"/>
          <p:nvPr/>
        </p:nvSpPr>
        <p:spPr>
          <a:xfrm>
            <a:off x="2234387" y="4067179"/>
            <a:ext cx="5272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QUERY</a:t>
            </a:r>
            <a:endParaRPr lang="ko-KR" altLang="en-US" sz="8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6131A7-BFD9-5A87-B6BC-1A743E09A9EF}"/>
              </a:ext>
            </a:extLst>
          </p:cNvPr>
          <p:cNvSpPr txBox="1"/>
          <p:nvPr/>
        </p:nvSpPr>
        <p:spPr>
          <a:xfrm>
            <a:off x="4061918" y="4067179"/>
            <a:ext cx="756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GET, JSON</a:t>
            </a:r>
            <a:endParaRPr lang="ko-KR" altLang="en-US" sz="8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03ED39-F321-F840-3E81-95F4BE526B63}"/>
              </a:ext>
            </a:extLst>
          </p:cNvPr>
          <p:cNvSpPr txBox="1"/>
          <p:nvPr/>
        </p:nvSpPr>
        <p:spPr>
          <a:xfrm>
            <a:off x="4061918" y="4584576"/>
            <a:ext cx="756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POST</a:t>
            </a:r>
            <a:endParaRPr lang="ko-KR" altLang="en-US" sz="800"/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206E83F1-9B44-4F97-9723-08756786D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108355"/>
              </p:ext>
            </p:extLst>
          </p:nvPr>
        </p:nvGraphicFramePr>
        <p:xfrm>
          <a:off x="731521" y="5883781"/>
          <a:ext cx="5394959" cy="2188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94959">
                  <a:extLst>
                    <a:ext uri="{9D8B030D-6E8A-4147-A177-3AD203B41FA5}">
                      <a16:colId xmlns:a16="http://schemas.microsoft.com/office/drawing/2014/main" val="2142905347"/>
                    </a:ext>
                  </a:extLst>
                </a:gridCol>
              </a:tblGrid>
              <a:tr h="3739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A/B</a:t>
                      </a: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 테스트 제안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583479"/>
                  </a:ext>
                </a:extLst>
              </a:tr>
              <a:tr h="1815002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764437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72B1D9B7-A6E6-A3EF-86F4-66D165B26EE3}"/>
              </a:ext>
            </a:extLst>
          </p:cNvPr>
          <p:cNvSpPr txBox="1"/>
          <p:nvPr/>
        </p:nvSpPr>
        <p:spPr>
          <a:xfrm>
            <a:off x="731521" y="6292502"/>
            <a:ext cx="539495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연구 가설</a:t>
            </a:r>
            <a:r>
              <a:rPr lang="en-US" altLang="ko-KR" sz="1000"/>
              <a:t>: </a:t>
            </a:r>
            <a:r>
              <a:rPr lang="ko-KR" altLang="en-US" sz="1000"/>
              <a:t>이성 후보 배치 알고리즘을 적용하면 그렇지 않을 때보다 초성 확인이 더 발생할 것이다</a:t>
            </a:r>
            <a:r>
              <a:rPr lang="en-US" altLang="ko-KR" sz="1000"/>
              <a:t>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변인</a:t>
            </a:r>
            <a:r>
              <a:rPr lang="en-US" altLang="ko-KR" sz="1000"/>
              <a:t>(</a:t>
            </a:r>
            <a:r>
              <a:rPr lang="ko-KR" altLang="en-US" sz="1000"/>
              <a:t>지표</a:t>
            </a:r>
            <a:r>
              <a:rPr lang="en-US" altLang="ko-KR" sz="1000"/>
              <a:t>) </a:t>
            </a:r>
            <a:r>
              <a:rPr lang="ko-KR" altLang="en-US" sz="1000"/>
              <a:t>설정</a:t>
            </a: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조건 별 투표 횟수</a:t>
            </a:r>
            <a:r>
              <a:rPr lang="en-US" altLang="ko-KR" sz="1000"/>
              <a:t>: 1,000</a:t>
            </a:r>
            <a:r>
              <a:rPr lang="ko-KR" altLang="en-US" sz="1000"/>
              <a:t>회</a:t>
            </a:r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연구 기간</a:t>
            </a:r>
            <a:r>
              <a:rPr lang="en-US" altLang="ko-KR" sz="1000"/>
              <a:t>: 14</a:t>
            </a:r>
            <a:r>
              <a:rPr lang="ko-KR" altLang="en-US" sz="1000"/>
              <a:t>일</a:t>
            </a:r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F82B16D9-880A-333C-421B-AFA73F7CA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767488"/>
              </p:ext>
            </p:extLst>
          </p:nvPr>
        </p:nvGraphicFramePr>
        <p:xfrm>
          <a:off x="1143000" y="6864002"/>
          <a:ext cx="4572000" cy="658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8505212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300367407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3438986664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769913833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151627623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독립변인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53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통제변인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53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성공지표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53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보조지표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53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가드레일 지표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53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25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알고리즘 적용 여부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유저 성별</a:t>
                      </a:r>
                      <a:r>
                        <a:rPr lang="en-US" altLang="ko-KR" sz="900"/>
                        <a:t>,</a:t>
                      </a:r>
                    </a:p>
                    <a:p>
                      <a:pPr algn="ctr" latinLnBrk="1"/>
                      <a:r>
                        <a:rPr lang="ko-KR" altLang="en-US" sz="900"/>
                        <a:t>이성 친구 비율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초성 확인 횟수 </a:t>
                      </a:r>
                      <a:r>
                        <a:rPr lang="en-US" altLang="ko-KR" sz="900"/>
                        <a:t>10% </a:t>
                      </a:r>
                      <a:r>
                        <a:rPr lang="ko-KR" altLang="en-US" sz="900"/>
                        <a:t>증가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이성 간 투표 횟수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유저 이탈률</a:t>
                      </a:r>
                      <a:r>
                        <a:rPr lang="en-US" altLang="ko-KR" sz="900"/>
                        <a:t>,</a:t>
                      </a:r>
                    </a:p>
                    <a:p>
                      <a:pPr algn="ctr" latinLnBrk="1"/>
                      <a:r>
                        <a:rPr lang="ko-KR" altLang="en-US" sz="900"/>
                        <a:t>투표 발생 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885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137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385AA-3FAE-CA0C-D65F-93EF332DD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모서리가 접힌 도형 8">
            <a:extLst>
              <a:ext uri="{FF2B5EF4-FFF2-40B4-BE49-F238E27FC236}">
                <a16:creationId xmlns:a16="http://schemas.microsoft.com/office/drawing/2014/main" id="{3AFDFB89-962B-7F82-261F-D2A424640F88}"/>
              </a:ext>
            </a:extLst>
          </p:cNvPr>
          <p:cNvSpPr/>
          <p:nvPr/>
        </p:nvSpPr>
        <p:spPr>
          <a:xfrm>
            <a:off x="471483" y="2612542"/>
            <a:ext cx="5799775" cy="5947258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798EC1-F404-3BB3-306A-BA3B1D406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5. </a:t>
            </a:r>
            <a:r>
              <a:rPr lang="ko-KR" altLang="en-US" sz="2400"/>
              <a:t>구독 결제 서비스 이탈 요인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C3B336-F0F4-1319-0E3E-82F42D2E3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872697"/>
            <a:ext cx="5915025" cy="15180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1800"/>
              <a:t>  프로젝트 개요</a:t>
            </a:r>
            <a:endParaRPr lang="en-US" altLang="ko-KR" sz="1800"/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현황</a:t>
            </a:r>
            <a:r>
              <a:rPr lang="en-US" altLang="ko-KR" sz="1400"/>
              <a:t>: </a:t>
            </a:r>
            <a:r>
              <a:rPr lang="ko-KR" altLang="en-US"/>
              <a:t>구독 결제를 하는 뉴스레터 서비스에서 </a:t>
            </a:r>
            <a:r>
              <a:rPr lang="ko-KR" altLang="en-US" sz="1400"/>
              <a:t>초기에 비해 </a:t>
            </a:r>
            <a:r>
              <a:rPr lang="en-US" altLang="ko-KR" sz="1400"/>
              <a:t>1</a:t>
            </a:r>
            <a:r>
              <a:rPr lang="ko-KR" altLang="en-US" sz="1400"/>
              <a:t>개월 리텐션이 감소</a:t>
            </a:r>
            <a:endParaRPr lang="en-US" altLang="ko-KR" sz="1400"/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문제</a:t>
            </a:r>
            <a:r>
              <a:rPr lang="en-US" altLang="ko-KR" sz="1400"/>
              <a:t>: </a:t>
            </a:r>
            <a:r>
              <a:rPr lang="ko-KR" altLang="en-US"/>
              <a:t>구독 후 첫 </a:t>
            </a:r>
            <a:r>
              <a:rPr lang="en-US" altLang="ko-KR"/>
              <a:t>1</a:t>
            </a:r>
            <a:r>
              <a:rPr lang="ko-KR" altLang="en-US"/>
              <a:t>개월 리텐션을 유지하는데 중요한 요인은 무엇인가</a:t>
            </a:r>
            <a:r>
              <a:rPr lang="en-US" altLang="ko-KR"/>
              <a:t>?</a:t>
            </a:r>
            <a:endParaRPr lang="en-US" altLang="ko-KR" sz="1400"/>
          </a:p>
          <a:p>
            <a:pPr marL="288000" lvl="1">
              <a:spcBef>
                <a:spcPts val="350"/>
              </a:spcBef>
            </a:pPr>
            <a:r>
              <a:rPr lang="ko-KR" altLang="en-US" sz="1400"/>
              <a:t>목표</a:t>
            </a:r>
            <a:r>
              <a:rPr lang="en-US" altLang="ko-KR" sz="1400"/>
              <a:t>: </a:t>
            </a:r>
            <a:r>
              <a:rPr lang="ko-KR" altLang="en-US" sz="1400"/>
              <a:t>첫 </a:t>
            </a:r>
            <a:r>
              <a:rPr lang="en-US" altLang="ko-KR" sz="1400"/>
              <a:t>1</a:t>
            </a:r>
            <a:r>
              <a:rPr lang="ko-KR" altLang="en-US" sz="1400"/>
              <a:t>개월 리텐션을 높이는 액션 플랜 제시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ACD0E-91F6-1C3A-EAE5-F6B54D0DB600}"/>
              </a:ext>
            </a:extLst>
          </p:cNvPr>
          <p:cNvSpPr txBox="1"/>
          <p:nvPr/>
        </p:nvSpPr>
        <p:spPr>
          <a:xfrm>
            <a:off x="471487" y="1976236"/>
            <a:ext cx="591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800"/>
              <a:t>프로세스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17C211-B318-9910-AEE4-99A39725A132}"/>
              </a:ext>
            </a:extLst>
          </p:cNvPr>
          <p:cNvSpPr/>
          <p:nvPr/>
        </p:nvSpPr>
        <p:spPr>
          <a:xfrm>
            <a:off x="471489" y="2335906"/>
            <a:ext cx="5799770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1. AARRR </a:t>
            </a:r>
            <a:r>
              <a:rPr lang="ko-KR" altLang="en-US" sz="1400">
                <a:solidFill>
                  <a:schemeClr val="tx1"/>
                </a:solidFill>
              </a:rPr>
              <a:t>분석</a:t>
            </a:r>
            <a:r>
              <a:rPr lang="en-US" altLang="ko-KR" sz="1400">
                <a:solidFill>
                  <a:schemeClr val="tx1"/>
                </a:solidFill>
              </a:rPr>
              <a:t>: </a:t>
            </a:r>
            <a:r>
              <a:rPr lang="ko-KR" altLang="en-US" sz="1400">
                <a:solidFill>
                  <a:schemeClr val="tx1"/>
                </a:solidFill>
              </a:rPr>
              <a:t>리텐션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186C24-275A-47BC-5186-9CFB28D6324C}"/>
              </a:ext>
            </a:extLst>
          </p:cNvPr>
          <p:cNvSpPr txBox="1"/>
          <p:nvPr/>
        </p:nvSpPr>
        <p:spPr>
          <a:xfrm>
            <a:off x="471486" y="2695575"/>
            <a:ext cx="58009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1</a:t>
            </a:r>
            <a:r>
              <a:rPr lang="ko-KR" altLang="en-US" sz="1050"/>
              <a:t>개월 요금제 유저들의 재구독 코호트 분석 결과</a:t>
            </a:r>
          </a:p>
        </p:txBody>
      </p:sp>
      <p:pic>
        <p:nvPicPr>
          <p:cNvPr id="34" name="그림 33" descr="텍스트, 스크린샷, 번호이(가) 표시된 사진&#10;&#10;자동 생성된 설명">
            <a:extLst>
              <a:ext uri="{FF2B5EF4-FFF2-40B4-BE49-F238E27FC236}">
                <a16:creationId xmlns:a16="http://schemas.microsoft.com/office/drawing/2014/main" id="{B58E7E04-BF87-D895-228C-239D3D47A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89" y="2988570"/>
            <a:ext cx="2958711" cy="218958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2E3076FB-8B71-6FFB-92AA-430141E86139}"/>
              </a:ext>
            </a:extLst>
          </p:cNvPr>
          <p:cNvSpPr/>
          <p:nvPr/>
        </p:nvSpPr>
        <p:spPr>
          <a:xfrm>
            <a:off x="1092200" y="3255081"/>
            <a:ext cx="396081" cy="1428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D5191F2-259E-D4CE-3163-EE97D7567FDA}"/>
              </a:ext>
            </a:extLst>
          </p:cNvPr>
          <p:cNvSpPr/>
          <p:nvPr/>
        </p:nvSpPr>
        <p:spPr>
          <a:xfrm>
            <a:off x="1092200" y="3890963"/>
            <a:ext cx="381000" cy="3299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2F22A3F-C9A7-B467-2505-88A8A09E6D6B}"/>
              </a:ext>
            </a:extLst>
          </p:cNvPr>
          <p:cNvSpPr/>
          <p:nvPr/>
        </p:nvSpPr>
        <p:spPr>
          <a:xfrm>
            <a:off x="1092200" y="4695826"/>
            <a:ext cx="381000" cy="1546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A60071-9FF6-93C9-75ED-A0D8D4F8E4F0}"/>
              </a:ext>
            </a:extLst>
          </p:cNvPr>
          <p:cNvSpPr txBox="1"/>
          <p:nvPr/>
        </p:nvSpPr>
        <p:spPr>
          <a:xfrm>
            <a:off x="3856354" y="2962685"/>
            <a:ext cx="23304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가격 프로모션을 진행한 다음 달에</a:t>
            </a:r>
            <a:r>
              <a:rPr lang="en-US" altLang="ko-KR" sz="1000"/>
              <a:t> </a:t>
            </a:r>
            <a:r>
              <a:rPr lang="ko-KR" altLang="en-US" sz="1000"/>
              <a:t>가입한 유저들의 </a:t>
            </a:r>
            <a:r>
              <a:rPr lang="en-US" altLang="ko-KR" sz="1000"/>
              <a:t>1</a:t>
            </a:r>
            <a:r>
              <a:rPr lang="ko-KR" altLang="en-US" sz="1000"/>
              <a:t>개월 리텐션이 감소</a:t>
            </a:r>
            <a:r>
              <a:rPr lang="en-US" altLang="ko-KR" sz="1000"/>
              <a:t>(2</a:t>
            </a:r>
            <a:r>
              <a:rPr lang="ko-KR" altLang="en-US" sz="1000"/>
              <a:t>월</a:t>
            </a:r>
            <a:r>
              <a:rPr lang="en-US" altLang="ko-KR" sz="1000"/>
              <a:t>, 6</a:t>
            </a:r>
            <a:r>
              <a:rPr lang="ko-KR" altLang="en-US" sz="1000"/>
              <a:t>월</a:t>
            </a:r>
            <a:r>
              <a:rPr lang="en-US" altLang="ko-KR" sz="1000"/>
              <a:t>, 7</a:t>
            </a:r>
            <a:r>
              <a:rPr lang="ko-KR" altLang="en-US" sz="1000"/>
              <a:t>월</a:t>
            </a:r>
            <a:r>
              <a:rPr lang="en-US" altLang="ko-KR" sz="1000"/>
              <a:t>)</a:t>
            </a:r>
          </a:p>
          <a:p>
            <a:endParaRPr lang="en-US" altLang="ko-KR" sz="1000"/>
          </a:p>
          <a:p>
            <a:r>
              <a:rPr lang="en-US" altLang="ko-KR" sz="1000"/>
              <a:t>10</a:t>
            </a:r>
            <a:r>
              <a:rPr lang="ko-KR" altLang="en-US" sz="1000"/>
              <a:t>월에는 가격 프로모션이 없었으나 </a:t>
            </a:r>
            <a:r>
              <a:rPr lang="en-US" altLang="ko-KR" sz="1000"/>
              <a:t>11</a:t>
            </a:r>
            <a:r>
              <a:rPr lang="ko-KR" altLang="en-US" sz="1000"/>
              <a:t>월 가입 유저들의 </a:t>
            </a:r>
            <a:r>
              <a:rPr lang="en-US" altLang="ko-KR" sz="1000"/>
              <a:t>1</a:t>
            </a:r>
            <a:r>
              <a:rPr lang="ko-KR" altLang="en-US" sz="1000"/>
              <a:t>개월 리텐션이 </a:t>
            </a:r>
            <a:r>
              <a:rPr lang="en-US" altLang="ko-KR" sz="1000"/>
              <a:t>58%</a:t>
            </a:r>
            <a:r>
              <a:rPr lang="ko-KR" altLang="en-US" sz="1000"/>
              <a:t>로 감소</a:t>
            </a:r>
          </a:p>
        </p:txBody>
      </p:sp>
      <p:graphicFrame>
        <p:nvGraphicFramePr>
          <p:cNvPr id="55" name="차트 54">
            <a:extLst>
              <a:ext uri="{FF2B5EF4-FFF2-40B4-BE49-F238E27FC236}">
                <a16:creationId xmlns:a16="http://schemas.microsoft.com/office/drawing/2014/main" id="{557630C4-FC68-8AEE-DC58-A91B09338A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9503989"/>
              </p:ext>
            </p:extLst>
          </p:nvPr>
        </p:nvGraphicFramePr>
        <p:xfrm>
          <a:off x="813189" y="5682995"/>
          <a:ext cx="2958711" cy="2133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62524FF5-18CF-E8F4-CF6C-D6B4C8B45ADA}"/>
              </a:ext>
            </a:extLst>
          </p:cNvPr>
          <p:cNvSpPr txBox="1"/>
          <p:nvPr/>
        </p:nvSpPr>
        <p:spPr>
          <a:xfrm>
            <a:off x="471486" y="5356558"/>
            <a:ext cx="58009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기간별 구독 취소율 비교</a:t>
            </a:r>
            <a:r>
              <a:rPr lang="en-US" altLang="ko-KR" sz="1050"/>
              <a:t>(2023.01 ~ 2023.12)</a:t>
            </a:r>
            <a:endParaRPr lang="ko-KR" altLang="en-US" sz="10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BC84FD-F76A-D342-2D91-F8026B2EFB7B}"/>
              </a:ext>
            </a:extLst>
          </p:cNvPr>
          <p:cNvSpPr txBox="1"/>
          <p:nvPr/>
        </p:nvSpPr>
        <p:spPr>
          <a:xfrm>
            <a:off x="3856354" y="5741110"/>
            <a:ext cx="2330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7</a:t>
            </a:r>
            <a:r>
              <a:rPr lang="ko-KR" altLang="en-US" sz="1000"/>
              <a:t>월부터 구독 취소율이 </a:t>
            </a:r>
            <a:r>
              <a:rPr lang="en-US" altLang="ko-KR" sz="1000"/>
              <a:t>25%</a:t>
            </a:r>
            <a:r>
              <a:rPr lang="ko-KR" altLang="en-US" sz="1000"/>
              <a:t> 이상이며</a:t>
            </a:r>
            <a:r>
              <a:rPr lang="en-US" altLang="ko-KR" sz="1000"/>
              <a:t>, 12</a:t>
            </a:r>
            <a:r>
              <a:rPr lang="ko-KR" altLang="en-US" sz="1000"/>
              <a:t>월에는 약 </a:t>
            </a:r>
            <a:r>
              <a:rPr lang="en-US" altLang="ko-KR" sz="1000"/>
              <a:t>40%</a:t>
            </a:r>
            <a:r>
              <a:rPr lang="ko-KR" altLang="en-US" sz="1000"/>
              <a:t>까지 상승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64F485-DF3F-468A-2C9B-A3102E564668}"/>
              </a:ext>
            </a:extLst>
          </p:cNvPr>
          <p:cNvSpPr txBox="1"/>
          <p:nvPr/>
        </p:nvSpPr>
        <p:spPr>
          <a:xfrm>
            <a:off x="471486" y="8026425"/>
            <a:ext cx="5800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문제 정의</a:t>
            </a:r>
            <a:r>
              <a:rPr lang="en-US" altLang="ko-KR" sz="1200">
                <a:latin typeface="+mj-ea"/>
                <a:ea typeface="+mj-ea"/>
              </a:rPr>
              <a:t>: </a:t>
            </a:r>
            <a:r>
              <a:rPr lang="ko-KR" altLang="en-US" sz="1200">
                <a:latin typeface="+mj-ea"/>
                <a:ea typeface="+mj-ea"/>
              </a:rPr>
              <a:t>구독 후 첫 </a:t>
            </a:r>
            <a:r>
              <a:rPr lang="en-US" altLang="ko-KR" sz="1200">
                <a:latin typeface="+mj-ea"/>
                <a:ea typeface="+mj-ea"/>
              </a:rPr>
              <a:t>1</a:t>
            </a:r>
            <a:r>
              <a:rPr lang="ko-KR" altLang="en-US" sz="1200">
                <a:latin typeface="+mj-ea"/>
                <a:ea typeface="+mj-ea"/>
              </a:rPr>
              <a:t>개월 리텐션을 높이는 방안 탐색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1DE7C-2FDF-DDEE-41A7-BA60B7A3D6B8}"/>
              </a:ext>
            </a:extLst>
          </p:cNvPr>
          <p:cNvSpPr txBox="1"/>
          <p:nvPr/>
        </p:nvSpPr>
        <p:spPr>
          <a:xfrm>
            <a:off x="471484" y="528495"/>
            <a:ext cx="4052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2024.10.17 ~ 2024.11.12</a:t>
            </a:r>
            <a:endParaRPr lang="ko-KR" altLang="en-US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007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E8E23-D667-FA7B-C245-9A9ACDBC9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모서리가 접힌 도형 3">
            <a:extLst>
              <a:ext uri="{FF2B5EF4-FFF2-40B4-BE49-F238E27FC236}">
                <a16:creationId xmlns:a16="http://schemas.microsoft.com/office/drawing/2014/main" id="{653FDB03-44F7-919A-DE6F-BAEBABD47F80}"/>
              </a:ext>
            </a:extLst>
          </p:cNvPr>
          <p:cNvSpPr/>
          <p:nvPr/>
        </p:nvSpPr>
        <p:spPr>
          <a:xfrm>
            <a:off x="470292" y="3840776"/>
            <a:ext cx="5915019" cy="2691773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모서리가 접힌 도형 8">
            <a:extLst>
              <a:ext uri="{FF2B5EF4-FFF2-40B4-BE49-F238E27FC236}">
                <a16:creationId xmlns:a16="http://schemas.microsoft.com/office/drawing/2014/main" id="{E97223B2-0843-6C2F-70DA-681EC2D3423F}"/>
              </a:ext>
            </a:extLst>
          </p:cNvPr>
          <p:cNvSpPr/>
          <p:nvPr/>
        </p:nvSpPr>
        <p:spPr>
          <a:xfrm>
            <a:off x="471484" y="1513953"/>
            <a:ext cx="5915024" cy="1761579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모서리가 접힌 도형 51">
            <a:extLst>
              <a:ext uri="{FF2B5EF4-FFF2-40B4-BE49-F238E27FC236}">
                <a16:creationId xmlns:a16="http://schemas.microsoft.com/office/drawing/2014/main" id="{E1334687-7048-E547-F618-23307EE729EE}"/>
              </a:ext>
            </a:extLst>
          </p:cNvPr>
          <p:cNvSpPr/>
          <p:nvPr/>
        </p:nvSpPr>
        <p:spPr>
          <a:xfrm>
            <a:off x="470292" y="7028563"/>
            <a:ext cx="5913827" cy="1992869"/>
          </a:xfrm>
          <a:prstGeom prst="foldedCorner">
            <a:avLst>
              <a:gd name="adj" fmla="val 1602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86CD280-0D9C-CBCF-325E-A83A59427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5. </a:t>
            </a:r>
            <a:r>
              <a:rPr lang="ko-KR" altLang="en-US" sz="2400"/>
              <a:t>구독 결제 서비스 이탈 요인 탐색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E6436F-AAED-970D-C7D8-5684B7CC997B}"/>
              </a:ext>
            </a:extLst>
          </p:cNvPr>
          <p:cNvSpPr txBox="1"/>
          <p:nvPr/>
        </p:nvSpPr>
        <p:spPr>
          <a:xfrm>
            <a:off x="471487" y="877648"/>
            <a:ext cx="591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800"/>
              <a:t>프로세스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2DEC5D-21D0-A1E7-2832-2CCF22AC35BC}"/>
              </a:ext>
            </a:extLst>
          </p:cNvPr>
          <p:cNvSpPr/>
          <p:nvPr/>
        </p:nvSpPr>
        <p:spPr>
          <a:xfrm>
            <a:off x="471489" y="1237318"/>
            <a:ext cx="5915020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2. </a:t>
            </a:r>
            <a:r>
              <a:rPr lang="ko-KR" altLang="en-US" sz="1400">
                <a:solidFill>
                  <a:schemeClr val="tx1"/>
                </a:solidFill>
              </a:rPr>
              <a:t>리서치 및 </a:t>
            </a:r>
            <a:r>
              <a:rPr lang="en-US" altLang="ko-KR" sz="1400">
                <a:solidFill>
                  <a:schemeClr val="tx1"/>
                </a:solidFill>
              </a:rPr>
              <a:t>‘</a:t>
            </a:r>
            <a:r>
              <a:rPr lang="ko-KR" altLang="en-US" sz="1400">
                <a:solidFill>
                  <a:schemeClr val="tx1"/>
                </a:solidFill>
              </a:rPr>
              <a:t>약한 이탈</a:t>
            </a:r>
            <a:r>
              <a:rPr lang="en-US" altLang="ko-KR" sz="1400">
                <a:solidFill>
                  <a:schemeClr val="tx1"/>
                </a:solidFill>
              </a:rPr>
              <a:t>’ </a:t>
            </a:r>
            <a:r>
              <a:rPr lang="ko-KR" altLang="en-US" sz="1400">
                <a:solidFill>
                  <a:schemeClr val="tx1"/>
                </a:solidFill>
              </a:rPr>
              <a:t>탐색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48C4E1-10FC-7574-08F9-6EA943D43388}"/>
              </a:ext>
            </a:extLst>
          </p:cNvPr>
          <p:cNvSpPr/>
          <p:nvPr/>
        </p:nvSpPr>
        <p:spPr>
          <a:xfrm>
            <a:off x="471483" y="3552336"/>
            <a:ext cx="5915019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3. </a:t>
            </a:r>
            <a:r>
              <a:rPr lang="ko-KR" altLang="en-US" sz="1400">
                <a:solidFill>
                  <a:schemeClr val="tx1"/>
                </a:solidFill>
              </a:rPr>
              <a:t>변인 선정 및 </a:t>
            </a:r>
            <a:r>
              <a:rPr lang="en-US" altLang="ko-KR" sz="1400">
                <a:solidFill>
                  <a:schemeClr val="tx1"/>
                </a:solidFill>
              </a:rPr>
              <a:t>feature engineering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6B60952-4820-A5D6-D78F-DC649822FFD8}"/>
              </a:ext>
            </a:extLst>
          </p:cNvPr>
          <p:cNvSpPr/>
          <p:nvPr/>
        </p:nvSpPr>
        <p:spPr>
          <a:xfrm>
            <a:off x="471488" y="6753563"/>
            <a:ext cx="5913823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4. </a:t>
            </a:r>
            <a:r>
              <a:rPr lang="ko-KR" altLang="en-US" sz="1400">
                <a:solidFill>
                  <a:schemeClr val="tx1"/>
                </a:solidFill>
              </a:rPr>
              <a:t>머신러닝 및 주요 변인 확인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E5809B-1091-2006-6193-D5B960FA8B02}"/>
              </a:ext>
            </a:extLst>
          </p:cNvPr>
          <p:cNvSpPr txBox="1"/>
          <p:nvPr/>
        </p:nvSpPr>
        <p:spPr>
          <a:xfrm>
            <a:off x="471487" y="1596987"/>
            <a:ext cx="5915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구독 결제 시스템에서 이탈과 관련된 변인 리서치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DC16E0-EA9E-B82D-DAEC-CB49CA1ECDDE}"/>
              </a:ext>
            </a:extLst>
          </p:cNvPr>
          <p:cNvSpPr txBox="1"/>
          <p:nvPr/>
        </p:nvSpPr>
        <p:spPr>
          <a:xfrm>
            <a:off x="471481" y="3923811"/>
            <a:ext cx="59150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클러스터링을 이용해 에피소드 열람 패턴을 정의</a:t>
            </a:r>
            <a:endParaRPr lang="en-US" altLang="ko-KR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5D9BF6-451F-4F1C-20D5-5113EBEEAD66}"/>
              </a:ext>
            </a:extLst>
          </p:cNvPr>
          <p:cNvSpPr txBox="1"/>
          <p:nvPr/>
        </p:nvSpPr>
        <p:spPr>
          <a:xfrm>
            <a:off x="470293" y="1842836"/>
            <a:ext cx="5915024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약한 이탈</a:t>
            </a:r>
            <a:endParaRPr lang="en-US" altLang="ko-KR" sz="10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/>
              <a:t>개념적 정의</a:t>
            </a:r>
            <a:r>
              <a:rPr lang="en-US" altLang="ko-KR" sz="1050"/>
              <a:t>: </a:t>
            </a:r>
            <a:r>
              <a:rPr lang="ko-KR" altLang="en-US" sz="1050"/>
              <a:t>구독했으나 에피소드를 열람하지 않고 정기성이 결여된 상태</a:t>
            </a:r>
            <a:endParaRPr lang="en-US" altLang="ko-KR" sz="10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/>
              <a:t>조작적 정의</a:t>
            </a:r>
            <a:r>
              <a:rPr lang="en-US" altLang="ko-KR" sz="1050"/>
              <a:t>: 1</a:t>
            </a:r>
            <a:r>
              <a:rPr lang="ko-KR" altLang="en-US" sz="1050"/>
              <a:t>일 동안 에피소드를 열람하지 않은 상태</a:t>
            </a:r>
            <a:endParaRPr lang="en-US" altLang="ko-KR" sz="105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50"/>
              <a:t>서비스의 사용 주기</a:t>
            </a:r>
            <a:r>
              <a:rPr lang="en-US" altLang="ko-KR" sz="1050"/>
              <a:t>(</a:t>
            </a:r>
            <a:r>
              <a:rPr lang="ko-KR" altLang="en-US" sz="1050"/>
              <a:t>전체 유저 중 </a:t>
            </a:r>
            <a:r>
              <a:rPr lang="en-US" altLang="ko-KR" sz="1050"/>
              <a:t>80%</a:t>
            </a:r>
            <a:r>
              <a:rPr lang="ko-KR" altLang="en-US" sz="1050"/>
              <a:t>가 에피소드 열람을 재수행하는 기간</a:t>
            </a:r>
            <a:r>
              <a:rPr lang="en-US" altLang="ko-KR" sz="1050"/>
              <a:t>): 3</a:t>
            </a:r>
            <a:r>
              <a:rPr lang="ko-KR" altLang="en-US" sz="1050"/>
              <a:t>일</a:t>
            </a:r>
            <a:endParaRPr lang="en-US" altLang="ko-KR" sz="10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/>
              <a:t>약한 이탈률</a:t>
            </a:r>
            <a:r>
              <a:rPr lang="en-US" altLang="ko-KR" sz="1050"/>
              <a:t>: </a:t>
            </a:r>
            <a:r>
              <a:rPr lang="ko-KR" altLang="en-US" sz="1050"/>
              <a:t>구독 기간 중 약한 이탈이 발생한 비율</a:t>
            </a:r>
            <a:endParaRPr lang="en-US" altLang="ko-KR" sz="1050"/>
          </a:p>
          <a:p>
            <a:endParaRPr lang="en-US" altLang="ko-KR" sz="1050"/>
          </a:p>
          <a:p>
            <a:r>
              <a:rPr lang="en-US" altLang="ko-KR" sz="1050"/>
              <a:t>3</a:t>
            </a:r>
            <a:r>
              <a:rPr lang="ko-KR" altLang="en-US" sz="1050"/>
              <a:t>개월 이상 구독자들의 약한 이탈률 분석</a:t>
            </a:r>
            <a:r>
              <a:rPr lang="en-US" altLang="ko-KR" sz="1050"/>
              <a:t>: </a:t>
            </a:r>
            <a:r>
              <a:rPr lang="ko-KR" altLang="en-US" sz="1050"/>
              <a:t>구독을 취소한 달의 약한 이탈률은 </a:t>
            </a:r>
            <a:r>
              <a:rPr lang="en-US" altLang="ko-KR" sz="1050"/>
              <a:t>0.9(27</a:t>
            </a:r>
            <a:r>
              <a:rPr lang="ko-KR" altLang="en-US" sz="1050"/>
              <a:t>일</a:t>
            </a:r>
            <a:r>
              <a:rPr lang="en-US" altLang="ko-KR" sz="1050"/>
              <a:t>) </a:t>
            </a:r>
            <a:r>
              <a:rPr lang="ko-KR" altLang="en-US" sz="1050"/>
              <a:t>이상을 기록</a:t>
            </a:r>
            <a:endParaRPr lang="en-US" altLang="ko-KR" sz="105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C61B36F-F00C-5872-9712-4C734AE5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686" y="5103600"/>
            <a:ext cx="1248864" cy="9990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405593F-721D-161A-324D-F9F411C4F51E}"/>
              </a:ext>
            </a:extLst>
          </p:cNvPr>
          <p:cNvSpPr txBox="1"/>
          <p:nvPr/>
        </p:nvSpPr>
        <p:spPr>
          <a:xfrm>
            <a:off x="5084654" y="5140663"/>
            <a:ext cx="13521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군집</a:t>
            </a:r>
            <a:r>
              <a:rPr lang="en-US" altLang="ko-KR" sz="1000"/>
              <a:t>1: </a:t>
            </a:r>
            <a:r>
              <a:rPr lang="ko-KR" altLang="en-US" sz="1000"/>
              <a:t>가끔 보기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군집</a:t>
            </a:r>
            <a:r>
              <a:rPr lang="en-US" altLang="ko-KR" sz="1000"/>
              <a:t>2: </a:t>
            </a:r>
            <a:r>
              <a:rPr lang="ko-KR" altLang="en-US" sz="1000"/>
              <a:t>꾸준히 보기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군집</a:t>
            </a:r>
            <a:r>
              <a:rPr lang="en-US" altLang="ko-KR" sz="1000"/>
              <a:t>3: </a:t>
            </a:r>
            <a:r>
              <a:rPr lang="ko-KR" altLang="en-US" sz="1000"/>
              <a:t>몰아보기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9F2054B-F388-AF7B-8341-746491F91DA1}"/>
              </a:ext>
            </a:extLst>
          </p:cNvPr>
          <p:cNvSpPr/>
          <p:nvPr/>
        </p:nvSpPr>
        <p:spPr>
          <a:xfrm>
            <a:off x="5155645" y="5214991"/>
            <a:ext cx="88413" cy="88413"/>
          </a:xfrm>
          <a:prstGeom prst="ellipse">
            <a:avLst/>
          </a:prstGeom>
          <a:solidFill>
            <a:srgbClr val="1F91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82A5469-B1DC-4ED1-C374-4A5AF79EB1F3}"/>
              </a:ext>
            </a:extLst>
          </p:cNvPr>
          <p:cNvSpPr/>
          <p:nvPr/>
        </p:nvSpPr>
        <p:spPr>
          <a:xfrm>
            <a:off x="5155645" y="5377731"/>
            <a:ext cx="88413" cy="88413"/>
          </a:xfrm>
          <a:prstGeom prst="ellipse">
            <a:avLst/>
          </a:prstGeom>
          <a:solidFill>
            <a:srgbClr val="4402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5623EE0-9C0E-DAFF-27DA-8CE1351BBF19}"/>
              </a:ext>
            </a:extLst>
          </p:cNvPr>
          <p:cNvSpPr/>
          <p:nvPr/>
        </p:nvSpPr>
        <p:spPr>
          <a:xfrm>
            <a:off x="5155645" y="5526186"/>
            <a:ext cx="88413" cy="88413"/>
          </a:xfrm>
          <a:prstGeom prst="ellipse">
            <a:avLst/>
          </a:prstGeom>
          <a:solidFill>
            <a:srgbClr val="FFE8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B9F766FF-1E47-4BCE-FDB0-823CADC6B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561109"/>
              </p:ext>
            </p:extLst>
          </p:nvPr>
        </p:nvGraphicFramePr>
        <p:xfrm>
          <a:off x="521792" y="4204104"/>
          <a:ext cx="3125089" cy="210312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81202">
                  <a:extLst>
                    <a:ext uri="{9D8B030D-6E8A-4147-A177-3AD203B41FA5}">
                      <a16:colId xmlns:a16="http://schemas.microsoft.com/office/drawing/2014/main" val="2555597063"/>
                    </a:ext>
                  </a:extLst>
                </a:gridCol>
                <a:gridCol w="635042">
                  <a:extLst>
                    <a:ext uri="{9D8B030D-6E8A-4147-A177-3AD203B41FA5}">
                      <a16:colId xmlns:a16="http://schemas.microsoft.com/office/drawing/2014/main" val="418872070"/>
                    </a:ext>
                  </a:extLst>
                </a:gridCol>
                <a:gridCol w="1308845">
                  <a:extLst>
                    <a:ext uri="{9D8B030D-6E8A-4147-A177-3AD203B41FA5}">
                      <a16:colId xmlns:a16="http://schemas.microsoft.com/office/drawing/2014/main" val="2326315602"/>
                    </a:ext>
                  </a:extLst>
                </a:gridCol>
              </a:tblGrid>
              <a:tr h="231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변인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유형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수준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884965"/>
                  </a:ext>
                </a:extLst>
              </a:tr>
              <a:tr h="231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약한 이탈률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연속형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 ~ 1</a:t>
                      </a:r>
                      <a:endParaRPr lang="ko-KR" altLang="en-US" sz="1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07866"/>
                  </a:ext>
                </a:extLst>
              </a:tr>
              <a:tr h="231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에피소드 열람 패턴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범주형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가끔 보기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꾸준히 보기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몰아보기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219562"/>
                  </a:ext>
                </a:extLst>
              </a:tr>
              <a:tr h="231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요금제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범주형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개월 </a:t>
                      </a:r>
                      <a:r>
                        <a:rPr lang="en-US" altLang="ko-KR" sz="1000"/>
                        <a:t>,3</a:t>
                      </a:r>
                      <a:r>
                        <a:rPr lang="ko-KR" altLang="en-US" sz="1000"/>
                        <a:t>개월 </a:t>
                      </a:r>
                      <a:r>
                        <a:rPr lang="en-US" altLang="ko-KR" sz="1000"/>
                        <a:t>,12</a:t>
                      </a:r>
                      <a:r>
                        <a:rPr lang="ko-KR" altLang="en-US" sz="1000"/>
                        <a:t>개월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566637"/>
                  </a:ext>
                </a:extLst>
              </a:tr>
              <a:tr h="231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무료체험 여부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범주형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있음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253"/>
                  </a:ext>
                </a:extLst>
              </a:tr>
              <a:tr h="231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취소 후 재구독 횟수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연속형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 ~ 3</a:t>
                      </a:r>
                      <a:endParaRPr lang="ko-KR" altLang="en-US" sz="1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56539"/>
                  </a:ext>
                </a:extLst>
              </a:tr>
              <a:tr h="231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에피소드 열람 횟수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연속형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 ~ 8481</a:t>
                      </a:r>
                      <a:endParaRPr lang="ko-KR" altLang="en-US" sz="1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731851"/>
                  </a:ext>
                </a:extLst>
              </a:tr>
              <a:tr h="231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콘텐츠 완료 횟수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연속형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 ~ 27</a:t>
                      </a:r>
                      <a:endParaRPr lang="ko-KR" altLang="en-US" sz="1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95065"/>
                  </a:ext>
                </a:extLst>
              </a:tr>
            </a:tbl>
          </a:graphicData>
        </a:graphic>
      </p:graphicFrame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88B3D082-CDE0-74D7-6794-17694C7C41A6}"/>
              </a:ext>
            </a:extLst>
          </p:cNvPr>
          <p:cNvCxnSpPr>
            <a:endCxn id="17" idx="0"/>
          </p:cNvCxnSpPr>
          <p:nvPr/>
        </p:nvCxnSpPr>
        <p:spPr>
          <a:xfrm>
            <a:off x="3646881" y="4838700"/>
            <a:ext cx="801237" cy="2649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735AEC-7CBB-2ADF-1B3B-48809275E44F}"/>
              </a:ext>
            </a:extLst>
          </p:cNvPr>
          <p:cNvSpPr txBox="1"/>
          <p:nvPr/>
        </p:nvSpPr>
        <p:spPr>
          <a:xfrm>
            <a:off x="471481" y="7120065"/>
            <a:ext cx="59150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구독 후 첫 </a:t>
            </a:r>
            <a:r>
              <a:rPr lang="en-US" altLang="ko-KR" sz="1050"/>
              <a:t>1</a:t>
            </a:r>
            <a:r>
              <a:rPr lang="ko-KR" altLang="en-US" sz="1050"/>
              <a:t>개월 리텐션을 유지하기 위해 약한 이탈률</a:t>
            </a:r>
            <a:r>
              <a:rPr lang="en-US" altLang="ko-KR" sz="1050"/>
              <a:t>, </a:t>
            </a:r>
            <a:r>
              <a:rPr lang="ko-KR" altLang="en-US" sz="1050"/>
              <a:t>총 에피소드 열람 횟수</a:t>
            </a:r>
            <a:r>
              <a:rPr lang="en-US" altLang="ko-KR" sz="1050"/>
              <a:t>, </a:t>
            </a:r>
            <a:r>
              <a:rPr lang="ko-KR" altLang="en-US" sz="1050"/>
              <a:t>요금제가 중요함</a:t>
            </a:r>
            <a:endParaRPr lang="en-US" altLang="ko-KR" sz="105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FC50A7-00F8-32B3-F3FA-397B91C9C29F}"/>
              </a:ext>
            </a:extLst>
          </p:cNvPr>
          <p:cNvSpPr txBox="1"/>
          <p:nvPr/>
        </p:nvSpPr>
        <p:spPr>
          <a:xfrm>
            <a:off x="3133725" y="7373981"/>
            <a:ext cx="325159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사용 모델</a:t>
            </a:r>
            <a:r>
              <a:rPr lang="en-US" altLang="ko-KR" sz="1050"/>
              <a:t>: </a:t>
            </a:r>
            <a:r>
              <a:rPr lang="ko-KR" altLang="en-US" sz="1050"/>
              <a:t>로지스틱 회귀분석</a:t>
            </a:r>
            <a:r>
              <a:rPr lang="en-US" altLang="ko-KR" sz="1050"/>
              <a:t>, RandomForest</a:t>
            </a:r>
          </a:p>
          <a:p>
            <a:r>
              <a:rPr lang="ko-KR" altLang="en-US" sz="1050"/>
              <a:t>하이퍼파라미터 튜닝</a:t>
            </a:r>
            <a:r>
              <a:rPr lang="en-US" altLang="ko-KR" sz="1050"/>
              <a:t>: Bayesian-optimization</a:t>
            </a:r>
          </a:p>
          <a:p>
            <a:r>
              <a:rPr lang="ko-KR" altLang="en-US" sz="1050"/>
              <a:t>최종 선택 모델</a:t>
            </a:r>
            <a:r>
              <a:rPr lang="en-US" altLang="ko-KR" sz="1050"/>
              <a:t>: RandomForest</a:t>
            </a:r>
          </a:p>
          <a:p>
            <a:endParaRPr lang="en-US" altLang="ko-KR" sz="1050"/>
          </a:p>
          <a:p>
            <a:r>
              <a:rPr lang="ko-KR" altLang="en-US" sz="1050"/>
              <a:t>주요 변인</a:t>
            </a:r>
            <a:r>
              <a:rPr lang="en-US" altLang="ko-KR" sz="1050"/>
              <a:t>(</a:t>
            </a:r>
            <a:r>
              <a:rPr lang="ko-KR" altLang="en-US" sz="1050"/>
              <a:t>변수 중요도 </a:t>
            </a:r>
            <a:r>
              <a:rPr lang="en-US" altLang="ko-KR" sz="1050"/>
              <a:t>0.1 </a:t>
            </a:r>
            <a:r>
              <a:rPr lang="ko-KR" altLang="en-US" sz="1050"/>
              <a:t>이상</a:t>
            </a:r>
            <a:r>
              <a:rPr lang="en-US" altLang="ko-KR" sz="105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/>
              <a:t>장기 요금제</a:t>
            </a:r>
            <a:r>
              <a:rPr lang="en-US" altLang="ko-KR" sz="1050"/>
              <a:t>(3</a:t>
            </a:r>
            <a:r>
              <a:rPr lang="ko-KR" altLang="en-US" sz="1050"/>
              <a:t>개월 이상</a:t>
            </a:r>
            <a:r>
              <a:rPr lang="en-US" altLang="ko-KR" sz="105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/>
              <a:t>에피소드 열람 횟수</a:t>
            </a:r>
            <a:endParaRPr lang="en-US" altLang="ko-KR" sz="10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/>
              <a:t>약한이탈률</a:t>
            </a:r>
            <a:endParaRPr lang="en-US" altLang="ko-KR" sz="10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/>
              <a:t>에피소드 완료 횟수</a:t>
            </a:r>
            <a:endParaRPr lang="en-US" altLang="ko-KR" sz="105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02BE21EE-813E-FAA1-17B6-A2A365E2E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83" y="7373981"/>
            <a:ext cx="2609548" cy="14943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DBD8A9-05ED-00FA-DFDD-A73A242B3AE8}"/>
              </a:ext>
            </a:extLst>
          </p:cNvPr>
          <p:cNvSpPr txBox="1"/>
          <p:nvPr/>
        </p:nvSpPr>
        <p:spPr>
          <a:xfrm>
            <a:off x="471484" y="528495"/>
            <a:ext cx="4052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2024.10.17 ~ 2024.11.12</a:t>
            </a:r>
            <a:endParaRPr lang="ko-KR" altLang="en-US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495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153E-C3D3-FA1D-B933-61EEAD9B8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B0D7F-178F-B0C0-0570-5A23C828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5. </a:t>
            </a:r>
            <a:r>
              <a:rPr lang="ko-KR" altLang="en-US" sz="2400"/>
              <a:t>구독 결제 서비스 이탈 요인 탐색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FA97B-9818-BC8C-D4F3-1178A43FF570}"/>
              </a:ext>
            </a:extLst>
          </p:cNvPr>
          <p:cNvSpPr txBox="1"/>
          <p:nvPr/>
        </p:nvSpPr>
        <p:spPr>
          <a:xfrm>
            <a:off x="471487" y="869951"/>
            <a:ext cx="591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/>
              <a:t>액션 플랜</a:t>
            </a:r>
            <a:endParaRPr lang="en-US" altLang="ko-KR" sz="1800"/>
          </a:p>
        </p:txBody>
      </p:sp>
      <p:sp>
        <p:nvSpPr>
          <p:cNvPr id="4" name="사각형: 모서리가 접힌 도형 3">
            <a:extLst>
              <a:ext uri="{FF2B5EF4-FFF2-40B4-BE49-F238E27FC236}">
                <a16:creationId xmlns:a16="http://schemas.microsoft.com/office/drawing/2014/main" id="{1F3B5E6D-8541-7FF8-0C72-980B80513E1F}"/>
              </a:ext>
            </a:extLst>
          </p:cNvPr>
          <p:cNvSpPr/>
          <p:nvPr/>
        </p:nvSpPr>
        <p:spPr>
          <a:xfrm>
            <a:off x="2121214" y="3768602"/>
            <a:ext cx="2825434" cy="1992869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모서리가 접힌 도형 4">
            <a:extLst>
              <a:ext uri="{FF2B5EF4-FFF2-40B4-BE49-F238E27FC236}">
                <a16:creationId xmlns:a16="http://schemas.microsoft.com/office/drawing/2014/main" id="{3B11E3C7-E97D-509A-1948-C5E50FEC26E0}"/>
              </a:ext>
            </a:extLst>
          </p:cNvPr>
          <p:cNvSpPr/>
          <p:nvPr/>
        </p:nvSpPr>
        <p:spPr>
          <a:xfrm>
            <a:off x="3639263" y="1496954"/>
            <a:ext cx="2738438" cy="1845369"/>
          </a:xfrm>
          <a:prstGeom prst="foldedCorner">
            <a:avLst>
              <a:gd name="adj" fmla="val 1542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모서리가 접힌 도형 6">
            <a:extLst>
              <a:ext uri="{FF2B5EF4-FFF2-40B4-BE49-F238E27FC236}">
                <a16:creationId xmlns:a16="http://schemas.microsoft.com/office/drawing/2014/main" id="{44E073CB-6E0C-D830-E216-5FA46EF29949}"/>
              </a:ext>
            </a:extLst>
          </p:cNvPr>
          <p:cNvSpPr/>
          <p:nvPr/>
        </p:nvSpPr>
        <p:spPr>
          <a:xfrm>
            <a:off x="463866" y="1496955"/>
            <a:ext cx="2825434" cy="1845368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72456F-F7AB-7FA4-F9AE-0C4725DB14C1}"/>
              </a:ext>
            </a:extLst>
          </p:cNvPr>
          <p:cNvSpPr/>
          <p:nvPr/>
        </p:nvSpPr>
        <p:spPr>
          <a:xfrm>
            <a:off x="463869" y="1215766"/>
            <a:ext cx="2825434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1. </a:t>
            </a:r>
            <a:r>
              <a:rPr lang="ko-KR" altLang="en-US" sz="1400">
                <a:solidFill>
                  <a:schemeClr val="tx1"/>
                </a:solidFill>
              </a:rPr>
              <a:t>장기 요금제 유도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3E7DB9-57D7-C835-EA5B-AE9B58151A68}"/>
              </a:ext>
            </a:extLst>
          </p:cNvPr>
          <p:cNvSpPr/>
          <p:nvPr/>
        </p:nvSpPr>
        <p:spPr>
          <a:xfrm>
            <a:off x="3640454" y="1203960"/>
            <a:ext cx="2738438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2. </a:t>
            </a:r>
            <a:r>
              <a:rPr lang="ko-KR" altLang="en-US" sz="1400">
                <a:solidFill>
                  <a:schemeClr val="tx1"/>
                </a:solidFill>
              </a:rPr>
              <a:t>약한 이탈 감소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5B0BDA2-8DDB-654C-2657-026D94660173}"/>
              </a:ext>
            </a:extLst>
          </p:cNvPr>
          <p:cNvSpPr/>
          <p:nvPr/>
        </p:nvSpPr>
        <p:spPr>
          <a:xfrm>
            <a:off x="2121219" y="3511291"/>
            <a:ext cx="2825432" cy="292994"/>
          </a:xfrm>
          <a:prstGeom prst="rect">
            <a:avLst/>
          </a:prstGeom>
          <a:solidFill>
            <a:srgbClr val="65F2C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3. </a:t>
            </a:r>
            <a:r>
              <a:rPr lang="ko-KR" altLang="en-US" sz="1400">
                <a:solidFill>
                  <a:schemeClr val="tx1"/>
                </a:solidFill>
              </a:rPr>
              <a:t>에피소드 열람 </a:t>
            </a:r>
            <a:r>
              <a:rPr lang="en-US" altLang="ko-KR" sz="1400">
                <a:solidFill>
                  <a:schemeClr val="tx1"/>
                </a:solidFill>
              </a:rPr>
              <a:t>&amp; </a:t>
            </a:r>
            <a:r>
              <a:rPr lang="ko-KR" altLang="en-US" sz="1400">
                <a:solidFill>
                  <a:schemeClr val="tx1"/>
                </a:solidFill>
              </a:rPr>
              <a:t>완료 횟수</a:t>
            </a:r>
            <a:r>
              <a:rPr lang="en-US" altLang="ko-KR" sz="1400">
                <a:solidFill>
                  <a:schemeClr val="tx1"/>
                </a:solidFill>
              </a:rPr>
              <a:t> </a:t>
            </a:r>
            <a:r>
              <a:rPr lang="ko-KR" altLang="en-US" sz="1400">
                <a:solidFill>
                  <a:schemeClr val="tx1"/>
                </a:solidFill>
              </a:rPr>
              <a:t>증가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20D5DA-99D9-7D68-8A5D-EB80B731A11E}"/>
              </a:ext>
            </a:extLst>
          </p:cNvPr>
          <p:cNvSpPr txBox="1"/>
          <p:nvPr/>
        </p:nvSpPr>
        <p:spPr>
          <a:xfrm>
            <a:off x="463865" y="1598928"/>
            <a:ext cx="28254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미리보기</a:t>
            </a:r>
            <a:br>
              <a:rPr lang="en-US" altLang="ko-KR" sz="1000"/>
            </a:br>
            <a:r>
              <a:rPr lang="ko-KR" altLang="en-US" sz="1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장기 요금제 </a:t>
            </a:r>
            <a:r>
              <a:rPr lang="ko-KR" altLang="en-US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가입자들에게 최신 트렌드 우선공개</a:t>
            </a:r>
            <a:endParaRPr lang="en-US" altLang="ko-KR" sz="1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3146E5-E058-6FD4-A56F-41B9815BC162}"/>
              </a:ext>
            </a:extLst>
          </p:cNvPr>
          <p:cNvSpPr txBox="1"/>
          <p:nvPr/>
        </p:nvSpPr>
        <p:spPr>
          <a:xfrm>
            <a:off x="463864" y="2051626"/>
            <a:ext cx="28254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effectLst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요약 정보</a:t>
            </a:r>
            <a:endParaRPr lang="en-US" altLang="ko-KR" sz="1000" dirty="0">
              <a:effectLst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100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장기 요금제 가입자들에게만 매일 아침 뉴스 요약 제공</a:t>
            </a:r>
            <a:endParaRPr lang="ko-KR" altLang="en-US" sz="1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F68504-7CE7-663B-CBCC-8A3FE63642D2}"/>
              </a:ext>
            </a:extLst>
          </p:cNvPr>
          <p:cNvSpPr txBox="1"/>
          <p:nvPr/>
        </p:nvSpPr>
        <p:spPr>
          <a:xfrm>
            <a:off x="3638072" y="2644597"/>
            <a:ext cx="27384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000" b="1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Gamification</a:t>
            </a:r>
            <a:br>
              <a:rPr lang="ko-KR" altLang="en-US" sz="1000"/>
            </a:br>
            <a:r>
              <a:rPr lang="ko-KR" altLang="en-US" sz="10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토스</a:t>
            </a:r>
            <a:r>
              <a:rPr lang="en-US" altLang="ko-KR" sz="10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0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네이버 페이처럼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사이버 펫 키우기 </a:t>
            </a:r>
            <a:r>
              <a:rPr lang="ko-KR" altLang="en-US" sz="10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게임 도입</a:t>
            </a:r>
            <a:endParaRPr lang="ko-KR" alt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5CAAC3-6E2D-05DC-B76E-9D0ABE9FE8FA}"/>
              </a:ext>
            </a:extLst>
          </p:cNvPr>
          <p:cNvSpPr txBox="1"/>
          <p:nvPr/>
        </p:nvSpPr>
        <p:spPr>
          <a:xfrm>
            <a:off x="3639263" y="1582549"/>
            <a:ext cx="2738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푸시 알림</a:t>
            </a:r>
            <a:br>
              <a:rPr lang="en-US" altLang="ko-KR" sz="1000" b="1"/>
            </a:br>
            <a:r>
              <a:rPr lang="ko-KR" altLang="en-US" sz="1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약한 </a:t>
            </a:r>
            <a:r>
              <a:rPr lang="ko-KR" altLang="en-US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이탈의 비율이 </a:t>
            </a:r>
            <a:r>
              <a:rPr lang="en-US" altLang="ko-KR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0.8</a:t>
            </a:r>
            <a:r>
              <a:rPr lang="ko-KR" altLang="en-US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이상일 시 알림 전송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B55792-CC12-A604-E917-FD17C7629926}"/>
              </a:ext>
            </a:extLst>
          </p:cNvPr>
          <p:cNvSpPr txBox="1"/>
          <p:nvPr/>
        </p:nvSpPr>
        <p:spPr>
          <a:xfrm>
            <a:off x="3638072" y="2053014"/>
            <a:ext cx="27384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1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트민남</a:t>
            </a:r>
            <a:r>
              <a:rPr lang="en-US" altLang="ko-KR" sz="1000" b="1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 sz="1000" b="1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트민녀</a:t>
            </a:r>
            <a:br>
              <a:rPr lang="ko-KR" altLang="en-US" sz="1000"/>
            </a:br>
            <a:r>
              <a:rPr lang="ko-KR" altLang="en-US" sz="1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출석 </a:t>
            </a:r>
            <a:r>
              <a:rPr lang="ko-KR" altLang="en-US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체크</a:t>
            </a:r>
            <a:r>
              <a:rPr lang="en-US" altLang="ko-KR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댓글 수 등을 합산하여 이달의 </a:t>
            </a:r>
            <a:r>
              <a:rPr lang="en-US" altLang="ko-KR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BEST </a:t>
            </a:r>
            <a:r>
              <a:rPr lang="ko-KR" altLang="en-US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유저를 선정 하여 혜택 제공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CC2A29-8715-120B-7EE7-3514F5D3CD0F}"/>
              </a:ext>
            </a:extLst>
          </p:cNvPr>
          <p:cNvSpPr txBox="1"/>
          <p:nvPr/>
        </p:nvSpPr>
        <p:spPr>
          <a:xfrm>
            <a:off x="2121214" y="4763875"/>
            <a:ext cx="282543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오디오 레터</a:t>
            </a:r>
            <a:br>
              <a:rPr lang="en-US" altLang="ko-KR" sz="1000"/>
            </a:br>
            <a:r>
              <a:rPr lang="ko-KR" altLang="en-US" sz="1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인플루언서들을 섭외해 오디오북처럼 뉴스레터를 읽어주는 서비스 도입</a:t>
            </a:r>
            <a:endParaRPr lang="ko-KR" altLang="en-US" sz="1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9AC2CA-C66D-E268-771B-BDD9AC19A925}"/>
              </a:ext>
            </a:extLst>
          </p:cNvPr>
          <p:cNvSpPr txBox="1"/>
          <p:nvPr/>
        </p:nvSpPr>
        <p:spPr>
          <a:xfrm>
            <a:off x="2121214" y="3951303"/>
            <a:ext cx="27384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뉴스레터 </a:t>
            </a:r>
            <a:r>
              <a:rPr lang="en-US" altLang="ko-KR" sz="1000" b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UI </a:t>
            </a:r>
            <a:r>
              <a:rPr lang="ko-KR" altLang="en-US" sz="1000" b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개선</a:t>
            </a:r>
            <a:endParaRPr lang="en-US" altLang="ko-KR" sz="1000" b="1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defRPr/>
            </a:pPr>
            <a:r>
              <a:rPr lang="ko-KR" altLang="en-US" sz="1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유저들이 편하게 읽을 수 있도록</a:t>
            </a:r>
            <a:endParaRPr lang="en-US" altLang="ko-KR" sz="100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defRPr/>
            </a:pPr>
            <a:r>
              <a:rPr lang="en-US" altLang="ko-KR" sz="1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</a:t>
            </a:r>
            <a:r>
              <a:rPr lang="ko-KR" altLang="en-US" sz="1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뉴스레터 분량 조정</a:t>
            </a:r>
            <a:endParaRPr lang="en-US" altLang="ko-KR" sz="100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defRPr/>
            </a:pPr>
            <a:r>
              <a:rPr lang="en-US" altLang="ko-KR" sz="1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</a:t>
            </a:r>
            <a:r>
              <a:rPr lang="ko-KR" altLang="en-US" sz="1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뉴스레터 본문 </a:t>
            </a:r>
            <a:r>
              <a:rPr lang="en-US" altLang="ko-KR" sz="1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UI </a:t>
            </a:r>
            <a:r>
              <a:rPr lang="ko-KR" altLang="en-US" sz="1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개선</a:t>
            </a:r>
            <a:endParaRPr lang="ko-KR" altLang="en-US" sz="1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5E0FB7-0F26-E20B-3B82-0239208BEEFD}"/>
              </a:ext>
            </a:extLst>
          </p:cNvPr>
          <p:cNvSpPr txBox="1"/>
          <p:nvPr/>
        </p:nvSpPr>
        <p:spPr>
          <a:xfrm>
            <a:off x="471484" y="528495"/>
            <a:ext cx="4052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2024.10.17 ~ 2024.11.12</a:t>
            </a:r>
            <a:endParaRPr lang="ko-KR" altLang="en-US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841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Pretendard ExtraBold"/>
        <a:ea typeface="Pretendard ExtraBold"/>
        <a:cs typeface=""/>
      </a:majorFont>
      <a:minorFont>
        <a:latin typeface="Pretendard Medium"/>
        <a:ea typeface="Pretendard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2665</TotalTime>
  <Words>2294</Words>
  <Application>Microsoft Office PowerPoint</Application>
  <PresentationFormat>A4 용지(210x297mm)</PresentationFormat>
  <Paragraphs>433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Pretendard ExtraBold</vt:lpstr>
      <vt:lpstr>Pretendard Light</vt:lpstr>
      <vt:lpstr>Pretendard Medium</vt:lpstr>
      <vt:lpstr>Pretendard SemiBold</vt:lpstr>
      <vt:lpstr>맑은 고딕</vt:lpstr>
      <vt:lpstr>Arial</vt:lpstr>
      <vt:lpstr>Wingdings</vt:lpstr>
      <vt:lpstr>Office 테마</vt:lpstr>
      <vt:lpstr>DATA ANLYSIS PORTFOLIO</vt:lpstr>
      <vt:lpstr>1. 지하철역 노인 친화 점수 개발</vt:lpstr>
      <vt:lpstr>2. 로스트아크 강화 비용 예측 대시보드 제작</vt:lpstr>
      <vt:lpstr>3. 공유오피스 무료체험 후 유료 전환율 개선</vt:lpstr>
      <vt:lpstr>3. 공유오피스 무료체험 후 유료 전환율 개선</vt:lpstr>
      <vt:lpstr>3. 공유오피스 무료체험 후 유료 전환율 개선</vt:lpstr>
      <vt:lpstr>4. 청소년 대상 앙케이트 서비스 질문 후보 알고리즘 개선 </vt:lpstr>
      <vt:lpstr>4. 청소년 대상 앙케이트 서비스 질문 후보 알고리즘 개선 </vt:lpstr>
      <vt:lpstr>4. 청소년 대상 앙케이트 서비스 질문 후보 알고리즘 개선 </vt:lpstr>
      <vt:lpstr>5. 구독 결제 서비스 이탈 요인 탐색</vt:lpstr>
      <vt:lpstr>5. 구독 결제 서비스 이탈 요인 탐색</vt:lpstr>
      <vt:lpstr>5. 구독 결제 서비스 이탈 요인 탐색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조성학</dc:creator>
  <cp:lastModifiedBy>조성학</cp:lastModifiedBy>
  <cp:revision>211</cp:revision>
  <dcterms:created xsi:type="dcterms:W3CDTF">2025-01-08T11:35:44Z</dcterms:created>
  <dcterms:modified xsi:type="dcterms:W3CDTF">2025-03-23T08:49:54Z</dcterms:modified>
</cp:coreProperties>
</file>