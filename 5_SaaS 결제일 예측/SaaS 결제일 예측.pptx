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2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D98CD-1051-8E26-D10D-FE8CD8C27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83F46A-5B5D-D08B-C16D-9CE16BAE2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BD81F-1608-C162-A475-DDF40F14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F0D3F-7D3D-8DB0-A742-BEC5B056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52992-B759-B656-0092-66315C8A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83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058A5-AA8C-A79F-616F-FA9E6A66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A9AE1F-7E85-6313-5C06-F6C0FAB94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03054C-4263-2D2C-250B-D3D7C018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BEDAF-9416-698E-E77B-B6C46F0C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CC5F4-B352-FCDF-C492-2830C137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42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7ED66-2913-18B0-BA10-99497626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11C90D-C9CF-0BE9-5B6F-F36E19182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FD8A3A-3A5C-0A22-8FC1-E22CF7B6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9683C-3B57-7EA4-D89F-FCDF4645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A0BA0-6EF8-F8F1-1425-48E6A150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5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C3D69-C75E-928E-1F0C-114E444FD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24AE8A-24AF-4420-1B3D-6556AC896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D8A643-204E-4FBF-42F3-E255D88BD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B9956-EB26-A96B-BE87-E9E48D90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636A52-9476-4B3B-CBB7-9AB3866E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48912-E57F-39B1-B3F6-169D4D80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40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D7903-14F0-24FF-1D3A-E372F4D10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FB4C77-74F1-3ED5-44CD-EECCEECBF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E3B099-8C47-B55F-5EA7-9AB44267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87541A-57D8-059C-0429-D73CFE2F7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14ED3-66AE-70C1-4F29-9547E1F17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887AF6-588F-864A-6D8F-3495BA44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9CDC86-91CD-BBBA-8662-83DC45D3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39EFDE-1311-4CDF-772D-331B377F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10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88F48-177D-68F5-3495-BAE78702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50D594-4F90-29DC-740D-511D39BD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904467-6FF2-E264-1A46-F05939A6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01BFD2-1355-FFA5-164B-DBBBF0C0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23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8F051B-7E25-5911-ED59-4FE33189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910808-96BD-E117-7377-601A8DB6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4D886B-8B06-1E57-D6AF-78AD6D36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1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1FB0E-F114-9BE6-34D5-756CC221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2D03C5-B9D0-D5FA-1725-831061D6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E5B5D-476C-2986-A5DB-D07D771E6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A8D9C-A5FC-AB8A-3432-A245C17E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4AC611-37EC-FCD5-BFA3-A1FB0169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D5388C-8885-B296-F23B-B120C213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66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DCFDC-B022-F305-30CC-7A7CA39C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D0A29D-A091-DBE1-C27D-F3EC130B2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BDAD46-1AD6-379D-4FD3-47DA54987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4F8F46-0A37-A0AD-9CAD-D64FBBFD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D5EEFF-BE54-6EDD-A219-349F7E716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372A4E-9280-070D-2B69-ED3C40A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08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66556-60D2-E790-0EED-F2FD1A3E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EE80A9-4537-CEA1-BBA0-475B2CB43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77A729-4385-1ECE-092E-18B43DC4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8B8722-3A78-05A5-6DFD-F8B2FE88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AACCC-7C9C-8FD2-2A43-8F6DB31C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44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CBCC64-BD8B-01EA-C557-ACD706165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4B7129-0839-A172-9FAC-BB06FFC4A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A46633-78CD-2BFA-9471-72056BD3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7CA50-9AC1-EE0B-E4B0-1C6FA5EB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6C6E2-6CAF-63D6-ADAB-ED80569A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2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A6EAF3-2996-F09A-DA7E-DABEEE002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A50324-297C-EE72-90D1-C71822868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186A65-4B60-FD68-C2E6-4302E9F43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8AAAD-B4F4-4760-BC27-C358D5AA18B3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39B14-F85E-2E39-EED6-695B3DA67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D57FC-86A3-2007-CE4D-9DEF438C4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BCB2C-EE0E-4DA5-B27B-95DCE969E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5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77B44-C38E-FAB8-3310-64B81AE40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SaaS </a:t>
            </a:r>
            <a:r>
              <a:rPr lang="ko-KR" altLang="en-US"/>
              <a:t>결제일 예측</a:t>
            </a:r>
            <a:br>
              <a:rPr lang="en-US" altLang="ko-KR"/>
            </a:br>
            <a:r>
              <a:rPr lang="ko-KR" altLang="en-US"/>
              <a:t>프로세스 개선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AAE67A-48F6-7408-2738-915541CED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2025.06.03 ~ 2025.06.30</a:t>
            </a:r>
          </a:p>
        </p:txBody>
      </p:sp>
    </p:spTree>
    <p:extLst>
      <p:ext uri="{BB962C8B-B14F-4D97-AF65-F5344CB8AC3E}">
        <p14:creationId xmlns:p14="http://schemas.microsoft.com/office/powerpoint/2010/main" val="330709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814EC-913C-CBEB-964D-39A1517F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현황 및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931ADD-4B27-779E-CE1C-6201759AF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기존 주간 결제일 예측 방식</a:t>
            </a:r>
            <a:endParaRPr lang="en-US" altLang="ko-KR" sz="2000"/>
          </a:p>
          <a:p>
            <a:pPr lvl="1"/>
            <a:r>
              <a:rPr lang="ko-KR" altLang="en-US" sz="1800"/>
              <a:t>각 </a:t>
            </a:r>
            <a:r>
              <a:rPr lang="en-US" altLang="ko-KR" sz="1800"/>
              <a:t>SaaS</a:t>
            </a:r>
            <a:r>
              <a:rPr lang="ko-KR" altLang="en-US" sz="1800"/>
              <a:t>의 결제일들의 평균 간격을 계산해 결제일로 적용</a:t>
            </a:r>
            <a:endParaRPr lang="en-US" altLang="ko-KR" sz="1800"/>
          </a:p>
          <a:p>
            <a:endParaRPr lang="en-US" altLang="ko-KR" sz="2000"/>
          </a:p>
          <a:p>
            <a:r>
              <a:rPr lang="ko-KR" altLang="en-US" sz="2000"/>
              <a:t>문제</a:t>
            </a:r>
            <a:endParaRPr lang="en-US" altLang="ko-KR" sz="2000"/>
          </a:p>
          <a:p>
            <a:pPr lvl="1"/>
            <a:r>
              <a:rPr lang="ko-KR" altLang="en-US" sz="1800"/>
              <a:t>낮은 정확도</a:t>
            </a:r>
            <a:r>
              <a:rPr lang="en-US" altLang="ko-KR" sz="1800"/>
              <a:t>(6</a:t>
            </a:r>
            <a:r>
              <a:rPr lang="ko-KR" altLang="en-US" sz="1800"/>
              <a:t>월 </a:t>
            </a:r>
            <a:r>
              <a:rPr lang="en-US" altLang="ko-KR" sz="1800"/>
              <a:t>2</a:t>
            </a:r>
            <a:r>
              <a:rPr lang="ko-KR" altLang="en-US" sz="1800"/>
              <a:t>주차</a:t>
            </a:r>
            <a:r>
              <a:rPr lang="en-US" altLang="ko-KR" sz="1800"/>
              <a:t>(9-15</a:t>
            </a:r>
            <a:r>
              <a:rPr lang="ko-KR" altLang="en-US" sz="1800"/>
              <a:t>일</a:t>
            </a:r>
            <a:r>
              <a:rPr lang="en-US" altLang="ko-KR" sz="1800"/>
              <a:t>) </a:t>
            </a:r>
            <a:r>
              <a:rPr lang="ko-KR" altLang="en-US" sz="1800"/>
              <a:t>기준</a:t>
            </a:r>
            <a:r>
              <a:rPr lang="en-US" altLang="ko-KR" sz="1800"/>
              <a:t>)</a:t>
            </a:r>
          </a:p>
          <a:p>
            <a:pPr lvl="2"/>
            <a:r>
              <a:rPr lang="ko-KR" altLang="en-US" sz="1600"/>
              <a:t>실제 결제 내역 수</a:t>
            </a:r>
            <a:r>
              <a:rPr lang="en-US" altLang="ko-KR" sz="1600"/>
              <a:t>: 287</a:t>
            </a:r>
            <a:r>
              <a:rPr lang="ko-KR" altLang="en-US" sz="1600"/>
              <a:t>건</a:t>
            </a:r>
            <a:endParaRPr lang="en-US" altLang="ko-KR" sz="1600"/>
          </a:p>
          <a:p>
            <a:pPr lvl="2"/>
            <a:r>
              <a:rPr lang="ko-KR" altLang="en-US" sz="1600"/>
              <a:t>예측 결제 수</a:t>
            </a:r>
            <a:r>
              <a:rPr lang="en-US" altLang="ko-KR" sz="1600"/>
              <a:t>: 85</a:t>
            </a:r>
            <a:r>
              <a:rPr lang="ko-KR" altLang="en-US" sz="1600"/>
              <a:t>건</a:t>
            </a:r>
            <a:endParaRPr lang="en-US" altLang="ko-KR" sz="1600"/>
          </a:p>
          <a:p>
            <a:pPr lvl="2"/>
            <a:r>
              <a:rPr lang="ko-KR" altLang="en-US" sz="1600"/>
              <a:t>맞춘 예측 수</a:t>
            </a:r>
            <a:r>
              <a:rPr lang="en-US" altLang="ko-KR" sz="1600"/>
              <a:t>: 5</a:t>
            </a:r>
            <a:r>
              <a:rPr lang="ko-KR" altLang="en-US" sz="1600"/>
              <a:t>건</a:t>
            </a:r>
            <a:endParaRPr lang="en-US" altLang="ko-KR" sz="1600"/>
          </a:p>
          <a:p>
            <a:pPr lvl="1"/>
            <a:r>
              <a:rPr lang="ko-KR" altLang="en-US" sz="1800"/>
              <a:t>너무 보수적으로 예측을 진행</a:t>
            </a:r>
            <a:endParaRPr lang="en-US" altLang="ko-KR" sz="1800"/>
          </a:p>
          <a:p>
            <a:pPr lvl="1"/>
            <a:r>
              <a:rPr lang="en-US" altLang="ko-KR" sz="1800"/>
              <a:t>1</a:t>
            </a:r>
            <a:r>
              <a:rPr lang="ko-KR" altLang="en-US" sz="1800"/>
              <a:t>개 기업에서 여러 명의 직원들의 </a:t>
            </a:r>
            <a:r>
              <a:rPr lang="en-US" altLang="ko-KR" sz="1800"/>
              <a:t>SaaS</a:t>
            </a:r>
            <a:r>
              <a:rPr lang="ko-KR" altLang="en-US" sz="1800"/>
              <a:t>를 정기 결제했을 때 평균 간격 산출에 한계가 있음</a:t>
            </a:r>
            <a:endParaRPr lang="en-US" altLang="ko-KR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02622-A982-1D05-81F3-36840A59AA54}"/>
              </a:ext>
            </a:extLst>
          </p:cNvPr>
          <p:cNvSpPr txBox="1"/>
          <p:nvPr/>
        </p:nvSpPr>
        <p:spPr>
          <a:xfrm>
            <a:off x="923109" y="1332025"/>
            <a:ext cx="8081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/>
              <a:t>낮은 정확도로 유저들이 주간 리포트를 자주 방문하지 않음</a:t>
            </a:r>
          </a:p>
        </p:txBody>
      </p:sp>
    </p:spTree>
    <p:extLst>
      <p:ext uri="{BB962C8B-B14F-4D97-AF65-F5344CB8AC3E}">
        <p14:creationId xmlns:p14="http://schemas.microsoft.com/office/powerpoint/2010/main" val="2539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578D8-9F6C-FA11-1FA2-B4A6FC77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수집 및 전처리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3F11F-6218-9A5C-1D28-64F179102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수집한 데이터 수</a:t>
            </a:r>
            <a:r>
              <a:rPr lang="en-US" altLang="ko-KR" sz="2000"/>
              <a:t>: 55,210</a:t>
            </a:r>
            <a:r>
              <a:rPr lang="ko-KR" altLang="en-US" sz="2000"/>
              <a:t>개</a:t>
            </a:r>
            <a:endParaRPr lang="en-US" altLang="ko-KR" sz="2000"/>
          </a:p>
          <a:p>
            <a:pPr lvl="1"/>
            <a:r>
              <a:rPr lang="en-US" altLang="ko-KR" sz="1800"/>
              <a:t>64</a:t>
            </a:r>
            <a:r>
              <a:rPr lang="ko-KR" altLang="en-US" sz="1800"/>
              <a:t>개 고객사의 </a:t>
            </a:r>
            <a:r>
              <a:rPr lang="en-US" altLang="ko-KR" sz="1800"/>
              <a:t>SaaS 286</a:t>
            </a:r>
            <a:r>
              <a:rPr lang="ko-KR" altLang="en-US" sz="1800"/>
              <a:t>개의 결제 내역 수</a:t>
            </a:r>
            <a:r>
              <a:rPr lang="en-US" altLang="ko-KR" sz="1800"/>
              <a:t>: 55,210</a:t>
            </a:r>
            <a:r>
              <a:rPr lang="ko-KR" altLang="en-US" sz="1800"/>
              <a:t>개</a:t>
            </a:r>
            <a:endParaRPr lang="en-US" altLang="ko-KR" sz="1800"/>
          </a:p>
          <a:p>
            <a:pPr lvl="1"/>
            <a:r>
              <a:rPr lang="ko-KR" altLang="en-US" sz="1800"/>
              <a:t>신규 고객의 결제 내역을 연동했을 때 최소 범위만 가져올 것</a:t>
            </a:r>
            <a:r>
              <a:rPr lang="en-US" altLang="ko-KR" sz="1800"/>
              <a:t>(3</a:t>
            </a:r>
            <a:r>
              <a:rPr lang="ko-KR" altLang="en-US" sz="1800"/>
              <a:t>개월</a:t>
            </a:r>
            <a:r>
              <a:rPr lang="en-US" altLang="ko-KR" sz="1800"/>
              <a:t>)</a:t>
            </a:r>
          </a:p>
          <a:p>
            <a:pPr lvl="1"/>
            <a:r>
              <a:rPr lang="ko-KR" altLang="en-US" sz="1800"/>
              <a:t>시간대 및 화폐 단위 통일</a:t>
            </a:r>
            <a:endParaRPr lang="en-US" altLang="ko-KR" sz="1800"/>
          </a:p>
          <a:p>
            <a:r>
              <a:rPr lang="ko-KR" altLang="en-US" sz="2000"/>
              <a:t>전제 조건</a:t>
            </a:r>
            <a:endParaRPr lang="en-US" altLang="ko-KR" sz="2000"/>
          </a:p>
          <a:p>
            <a:pPr lvl="1"/>
            <a:r>
              <a:rPr lang="ko-KR" altLang="en-US" sz="1800"/>
              <a:t>유저들은 보다 적극적인 결제일 예측을 원하며 이 과정에서 과잉 예측을 어느 정도 허락할 수 있음 </a:t>
            </a:r>
            <a:r>
              <a:rPr lang="en-US" altLang="ko-KR" sz="1800"/>
              <a:t>(VoC)</a:t>
            </a:r>
          </a:p>
          <a:p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41681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BF2CC-2122-6E00-C8DB-06819E9C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EDA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93CC52-47F2-4ABE-FC99-AE007EF87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ko-KR" altLang="en-US" sz="2000"/>
              <a:t>기업의 </a:t>
            </a:r>
            <a:r>
              <a:rPr lang="en-US" altLang="ko-KR" sz="2000"/>
              <a:t>SaaS</a:t>
            </a:r>
            <a:r>
              <a:rPr lang="ko-KR" altLang="en-US" sz="2000"/>
              <a:t>별 평균 결제일 간격</a:t>
            </a:r>
            <a:r>
              <a:rPr lang="en-US" altLang="ko-KR" sz="2000"/>
              <a:t>: 38.7</a:t>
            </a:r>
            <a:r>
              <a:rPr lang="ko-KR" altLang="en-US" sz="2000"/>
              <a:t>일</a:t>
            </a:r>
            <a:endParaRPr lang="en-US" altLang="ko-KR" sz="2000"/>
          </a:p>
          <a:p>
            <a:r>
              <a:rPr lang="ko-KR" altLang="en-US" sz="2000"/>
              <a:t>범위</a:t>
            </a:r>
            <a:r>
              <a:rPr lang="en-US" altLang="ko-KR" sz="2000"/>
              <a:t>: 0</a:t>
            </a:r>
            <a:r>
              <a:rPr lang="ko-KR" altLang="en-US" sz="2000"/>
              <a:t>일 </a:t>
            </a:r>
            <a:r>
              <a:rPr lang="en-US" altLang="ko-KR" sz="2000"/>
              <a:t>~ 412.5</a:t>
            </a:r>
            <a:r>
              <a:rPr lang="ko-KR" altLang="en-US" sz="2000"/>
              <a:t>일</a:t>
            </a:r>
            <a:endParaRPr lang="en-US" altLang="ko-KR" sz="2000"/>
          </a:p>
          <a:p>
            <a:r>
              <a:rPr lang="ko-KR" altLang="en-US" sz="2000"/>
              <a:t>중위값</a:t>
            </a:r>
            <a:r>
              <a:rPr lang="en-US" altLang="ko-KR" sz="2000"/>
              <a:t>: 29.9</a:t>
            </a:r>
            <a:r>
              <a:rPr lang="ko-KR" altLang="en-US" sz="2000"/>
              <a:t>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CFA2BB-7099-F083-A251-426FAD9F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6" y="3429000"/>
            <a:ext cx="4556080" cy="3154825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566D87C-F97D-0BF2-5AA0-75208567FEB1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/>
              <a:t>결제일이 중복되는 소프트웨어의 수 </a:t>
            </a:r>
            <a:r>
              <a:rPr lang="en-US" altLang="ko-KR" sz="2000"/>
              <a:t>= 2,377</a:t>
            </a:r>
            <a:r>
              <a:rPr lang="ko-KR" altLang="en-US" sz="2000"/>
              <a:t>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1C5204-36EC-D94F-5904-050D0DB6C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419" y="3022138"/>
            <a:ext cx="3211161" cy="3154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AF8963-39FB-15F6-FF52-A71A92ED4CC6}"/>
              </a:ext>
            </a:extLst>
          </p:cNvPr>
          <p:cNvSpPr txBox="1"/>
          <p:nvPr/>
        </p:nvSpPr>
        <p:spPr>
          <a:xfrm>
            <a:off x="923109" y="1332025"/>
            <a:ext cx="8725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/>
              <a:t>대부분의 </a:t>
            </a:r>
            <a:r>
              <a:rPr lang="en-US" altLang="ko-KR" sz="2400"/>
              <a:t>SaaS</a:t>
            </a:r>
            <a:r>
              <a:rPr lang="ko-KR" altLang="en-US" sz="2400"/>
              <a:t>에서 간격보다 특정 날짜를 기반으로 트랜잭션이 발생</a:t>
            </a:r>
          </a:p>
        </p:txBody>
      </p:sp>
    </p:spTree>
    <p:extLst>
      <p:ext uri="{BB962C8B-B14F-4D97-AF65-F5344CB8AC3E}">
        <p14:creationId xmlns:p14="http://schemas.microsoft.com/office/powerpoint/2010/main" val="120896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8FDF1-8FB6-1EED-7F7F-45BD7EA9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인사이트 및 가설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EEE04-B76A-E9C6-4EDB-112528A9C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인사이트</a:t>
            </a:r>
            <a:endParaRPr lang="en-US" altLang="ko-KR"/>
          </a:p>
          <a:p>
            <a:pPr lvl="1"/>
            <a:r>
              <a:rPr lang="ko-KR" altLang="en-US"/>
              <a:t>특정 날짜에 결제가 반복되면 빈도가 높은 결제일이 다음 달에도 적용될 가능성이 높다</a:t>
            </a:r>
            <a:r>
              <a:rPr lang="en-US" altLang="ko-KR"/>
              <a:t>.</a:t>
            </a:r>
          </a:p>
          <a:p>
            <a:r>
              <a:rPr lang="ko-KR" altLang="en-US"/>
              <a:t>가설</a:t>
            </a:r>
            <a:endParaRPr lang="en-US" altLang="ko-KR"/>
          </a:p>
          <a:p>
            <a:pPr lvl="1"/>
            <a:r>
              <a:rPr lang="ko-KR" altLang="en-US"/>
              <a:t>결제일 간격을 기반으로 한 예측보다 결제일 빈도를 기반으로 한 예측의 정확도가 더 높을 것이다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F2FD7-90E5-59D0-A9F9-2F5135A5FD15}"/>
              </a:ext>
            </a:extLst>
          </p:cNvPr>
          <p:cNvSpPr txBox="1"/>
          <p:nvPr/>
        </p:nvSpPr>
        <p:spPr>
          <a:xfrm>
            <a:off x="923109" y="1332025"/>
            <a:ext cx="808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결제일의 빈도가 간격보다 더 정확한 지 비교가 필요</a:t>
            </a:r>
          </a:p>
        </p:txBody>
      </p:sp>
    </p:spTree>
    <p:extLst>
      <p:ext uri="{BB962C8B-B14F-4D97-AF65-F5344CB8AC3E}">
        <p14:creationId xmlns:p14="http://schemas.microsoft.com/office/powerpoint/2010/main" val="225019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2FB53-732B-7804-F635-40EEE37F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빈도 기반 결제일 예측 로직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1EDA413-97D0-E510-A530-E784F6FD6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3094"/>
            <a:ext cx="10515600" cy="38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0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CD33A-FED1-2116-A9A8-88D30269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가설 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1071D-42B2-8BFD-7D3E-D389F48C8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5846" cy="4351338"/>
          </a:xfrm>
        </p:spPr>
        <p:txBody>
          <a:bodyPr/>
          <a:lstStyle/>
          <a:p>
            <a:r>
              <a:rPr lang="ko-KR" altLang="en-US"/>
              <a:t>동일한 결제 내역 데이터를 활용해 </a:t>
            </a:r>
            <a:r>
              <a:rPr lang="en-US" altLang="ko-KR"/>
              <a:t>6</a:t>
            </a:r>
            <a:r>
              <a:rPr lang="ko-KR" altLang="en-US"/>
              <a:t>월 </a:t>
            </a:r>
            <a:r>
              <a:rPr lang="en-US" altLang="ko-KR"/>
              <a:t>2</a:t>
            </a:r>
            <a:r>
              <a:rPr lang="ko-KR" altLang="en-US"/>
              <a:t>주차 데이터를 예측</a:t>
            </a:r>
            <a:endParaRPr lang="en-US" altLang="ko-KR"/>
          </a:p>
          <a:p>
            <a:r>
              <a:rPr lang="ko-KR" altLang="en-US"/>
              <a:t>예측 수</a:t>
            </a:r>
            <a:r>
              <a:rPr lang="en-US" altLang="ko-KR"/>
              <a:t>: </a:t>
            </a:r>
            <a:r>
              <a:rPr lang="ko-KR" altLang="en-US"/>
              <a:t>빈도 기반 예측이 실제 결제 내역과 더 유사</a:t>
            </a:r>
            <a:endParaRPr lang="en-US" altLang="ko-KR"/>
          </a:p>
          <a:p>
            <a:r>
              <a:rPr lang="ko-KR" altLang="en-US"/>
              <a:t>정확도</a:t>
            </a:r>
            <a:r>
              <a:rPr lang="en-US" altLang="ko-KR"/>
              <a:t>: </a:t>
            </a:r>
            <a:r>
              <a:rPr lang="ko-KR" altLang="en-US"/>
              <a:t>간격 기반 예측보다 빈도 기반 예측이 전반적으로 </a:t>
            </a:r>
            <a:r>
              <a:rPr lang="en-US" altLang="ko-KR"/>
              <a:t>10</a:t>
            </a:r>
            <a:r>
              <a:rPr lang="ko-KR" altLang="en-US"/>
              <a:t>배 이상 성능 향상</a:t>
            </a:r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F47E56-4EC7-EB6B-98E0-7A5B5B71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80" y="1825625"/>
            <a:ext cx="5405846" cy="4220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34CCFD-BF26-AF0E-1D0D-0F490C0CE0D3}"/>
              </a:ext>
            </a:extLst>
          </p:cNvPr>
          <p:cNvSpPr txBox="1"/>
          <p:nvPr/>
        </p:nvSpPr>
        <p:spPr>
          <a:xfrm>
            <a:off x="923109" y="1332025"/>
            <a:ext cx="808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빈도 기반 예측이 간격 기반 예측보다 더 뛰어남</a:t>
            </a:r>
          </a:p>
        </p:txBody>
      </p:sp>
    </p:spTree>
    <p:extLst>
      <p:ext uri="{BB962C8B-B14F-4D97-AF65-F5344CB8AC3E}">
        <p14:creationId xmlns:p14="http://schemas.microsoft.com/office/powerpoint/2010/main" val="272423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B6585-5311-8EB0-AFED-90ECF3D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액션 및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82B62-EA70-0407-F70F-AC3152EE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7</a:t>
            </a:r>
            <a:r>
              <a:rPr lang="ko-KR" altLang="en-US"/>
              <a:t>월에 주간 리포트 내 주간 결제일 예측 프로세스 변경</a:t>
            </a:r>
            <a:r>
              <a:rPr lang="en-US" altLang="ko-KR"/>
              <a:t>(</a:t>
            </a:r>
            <a:r>
              <a:rPr lang="ko-KR" altLang="en-US"/>
              <a:t>기반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빈도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endParaRPr lang="en-US" altLang="ko-KR"/>
          </a:p>
          <a:p>
            <a:r>
              <a:rPr lang="ko-KR" altLang="en-US"/>
              <a:t>유저로부터 정확도 향상에 대한 긍정적 피드백 수용</a:t>
            </a:r>
            <a:endParaRPr lang="en-US" altLang="ko-KR"/>
          </a:p>
          <a:p>
            <a:r>
              <a:rPr lang="ko-KR" altLang="en-US"/>
              <a:t>주간 리포트 클릭 수 증가</a:t>
            </a:r>
          </a:p>
        </p:txBody>
      </p:sp>
    </p:spTree>
    <p:extLst>
      <p:ext uri="{BB962C8B-B14F-4D97-AF65-F5344CB8AC3E}">
        <p14:creationId xmlns:p14="http://schemas.microsoft.com/office/powerpoint/2010/main" val="1793587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EBBDD-74BA-AAFB-8E00-1D494B66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41186-6AA2-14A3-AB5D-493214C5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Keep: </a:t>
            </a:r>
            <a:r>
              <a:rPr lang="ko-KR" altLang="en-US"/>
              <a:t>더 나은 프로세스를 만들기 위해 </a:t>
            </a:r>
            <a:r>
              <a:rPr lang="en-US" altLang="ko-KR"/>
              <a:t>‘</a:t>
            </a:r>
            <a:r>
              <a:rPr lang="ko-KR" altLang="en-US"/>
              <a:t>최신 기술</a:t>
            </a:r>
            <a:r>
              <a:rPr lang="en-US" altLang="ko-KR"/>
              <a:t>‘</a:t>
            </a:r>
            <a:r>
              <a:rPr lang="ko-KR" altLang="en-US"/>
              <a:t>에 의존하는 것이 아닌 문제의 본질을 파악하는 것에 집중하였음</a:t>
            </a:r>
            <a:endParaRPr lang="en-US" altLang="ko-KR"/>
          </a:p>
          <a:p>
            <a:r>
              <a:rPr lang="en-US" altLang="ko-KR"/>
              <a:t>Problem: </a:t>
            </a:r>
            <a:r>
              <a:rPr lang="ko-KR" altLang="en-US"/>
              <a:t>주말에 발생하는 결제 내역을 주간 리포트가 발행되는 월요일 오전까지 가져오지 못해 실제로 맞는 예측이 틀린 것처럼 보이는 이슈 발견</a:t>
            </a:r>
            <a:endParaRPr lang="en-US" altLang="ko-KR"/>
          </a:p>
          <a:p>
            <a:r>
              <a:rPr lang="en-US" altLang="ko-KR"/>
              <a:t>Try: </a:t>
            </a:r>
            <a:r>
              <a:rPr lang="ko-KR" altLang="en-US"/>
              <a:t>각 결제 내역을 기업이 맺은 </a:t>
            </a:r>
            <a:r>
              <a:rPr lang="en-US" altLang="ko-KR"/>
              <a:t>SaaS </a:t>
            </a:r>
            <a:r>
              <a:rPr lang="ko-KR" altLang="en-US"/>
              <a:t>계약과 연동해서 결제일 및 결제 금액 예측의 정확도 향상</a:t>
            </a:r>
          </a:p>
        </p:txBody>
      </p:sp>
    </p:spTree>
    <p:extLst>
      <p:ext uri="{BB962C8B-B14F-4D97-AF65-F5344CB8AC3E}">
        <p14:creationId xmlns:p14="http://schemas.microsoft.com/office/powerpoint/2010/main" val="757217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프리텐다드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366</Words>
  <Application>Microsoft Office PowerPoint</Application>
  <PresentationFormat>와이드스크린</PresentationFormat>
  <Paragraphs>47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Pretendard</vt:lpstr>
      <vt:lpstr>Pretendard Black</vt:lpstr>
      <vt:lpstr>Arial</vt:lpstr>
      <vt:lpstr>Wingdings</vt:lpstr>
      <vt:lpstr>Office 테마</vt:lpstr>
      <vt:lpstr>SaaS 결제일 예측 프로세스 개선</vt:lpstr>
      <vt:lpstr>현황 및 문제</vt:lpstr>
      <vt:lpstr>데이터 수집 및 전처리</vt:lpstr>
      <vt:lpstr>EDA</vt:lpstr>
      <vt:lpstr>인사이트 및 가설</vt:lpstr>
      <vt:lpstr>빈도 기반 결제일 예측 로직</vt:lpstr>
      <vt:lpstr>가설 검정</vt:lpstr>
      <vt:lpstr>액션 및 결과</vt:lpstr>
      <vt:lpstr>회고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조성학</dc:creator>
  <cp:lastModifiedBy>조성학</cp:lastModifiedBy>
  <cp:revision>9</cp:revision>
  <dcterms:created xsi:type="dcterms:W3CDTF">2025-10-19T11:36:50Z</dcterms:created>
  <dcterms:modified xsi:type="dcterms:W3CDTF">2025-10-31T02:22:14Z</dcterms:modified>
</cp:coreProperties>
</file>